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835220ae8f44c38" /><Relationship Type="http://schemas.openxmlformats.org/officeDocument/2006/relationships/extended-properties" Target="/docProps/app.xml" Id="Rc196a0e60dd64eb3" /><Relationship Type="http://schemas.openxmlformats.org/officeDocument/2006/relationships/officeDocument" Target="/ppt/presentation.xml" Id="Rd561bfa8bfb1444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eaa1281dcce44e0"/>
  </p:sldMasterIdLst>
  <p:notesMasterIdLst>
    <p:notesMasterId xmlns:r="http://schemas.openxmlformats.org/officeDocument/2006/relationships" r:id="R17f451b9815d4333"/>
  </p:notesMasterIdLst>
  <p:sldIdLst>
    <p:sldId xmlns:r="http://schemas.openxmlformats.org/officeDocument/2006/relationships" id="256" r:id="Rab8549fe8d284ce1"/>
    <p:sldId xmlns:r="http://schemas.openxmlformats.org/officeDocument/2006/relationships" id="257" r:id="Rbb715f722abc49fa"/>
    <p:sldId xmlns:r="http://schemas.openxmlformats.org/officeDocument/2006/relationships" id="258" r:id="R122e8472278b4bb9"/>
    <p:sldId xmlns:r="http://schemas.openxmlformats.org/officeDocument/2006/relationships" id="259" r:id="Rdc84f544a98d4b00"/>
    <p:sldId xmlns:r="http://schemas.openxmlformats.org/officeDocument/2006/relationships" id="260" r:id="Rbae02448ba6a448e"/>
    <p:sldId xmlns:r="http://schemas.openxmlformats.org/officeDocument/2006/relationships" id="261" r:id="R8b6443a188bb4007"/>
    <p:sldId xmlns:r="http://schemas.openxmlformats.org/officeDocument/2006/relationships" id="262" r:id="Ra9d610fb9f664461"/>
    <p:sldId xmlns:r="http://schemas.openxmlformats.org/officeDocument/2006/relationships" id="263" r:id="R21f6353d7e874833"/>
    <p:sldId xmlns:r="http://schemas.openxmlformats.org/officeDocument/2006/relationships" id="264" r:id="R257b0c11709b4993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801be77e1c646b4" /><Relationship Type="http://schemas.openxmlformats.org/officeDocument/2006/relationships/slideMaster" Target="/ppt/slideMasters/slideMaster1.xml" Id="R4eaa1281dcce44e0" /><Relationship Type="http://schemas.openxmlformats.org/officeDocument/2006/relationships/notesMaster" Target="/ppt/notesMasters/notesMaster1.xml" Id="R17f451b9815d4333" /><Relationship Type="http://schemas.openxmlformats.org/officeDocument/2006/relationships/presProps" Target="/ppt/presProps.xml" Id="R20d00b4777014fec" /><Relationship Type="http://schemas.openxmlformats.org/officeDocument/2006/relationships/tableStyles" Target="/ppt/tableStyles.xml" Id="Rca1368496009474b" /><Relationship Type="http://schemas.openxmlformats.org/officeDocument/2006/relationships/slide" Target="/ppt/slides/slide1.xml" Id="Rab8549fe8d284ce1" /><Relationship Type="http://schemas.openxmlformats.org/officeDocument/2006/relationships/slide" Target="/ppt/slides/slide2.xml" Id="Rbb715f722abc49fa" /><Relationship Type="http://schemas.openxmlformats.org/officeDocument/2006/relationships/slide" Target="/ppt/slides/slide3.xml" Id="R122e8472278b4bb9" /><Relationship Type="http://schemas.openxmlformats.org/officeDocument/2006/relationships/slide" Target="/ppt/slides/slide4.xml" Id="Rdc84f544a98d4b00" /><Relationship Type="http://schemas.openxmlformats.org/officeDocument/2006/relationships/slide" Target="/ppt/slides/slide5.xml" Id="Rbae02448ba6a448e" /><Relationship Type="http://schemas.openxmlformats.org/officeDocument/2006/relationships/slide" Target="/ppt/slides/slide6.xml" Id="R8b6443a188bb4007" /><Relationship Type="http://schemas.openxmlformats.org/officeDocument/2006/relationships/slide" Target="/ppt/slides/slide7.xml" Id="Ra9d610fb9f664461" /><Relationship Type="http://schemas.openxmlformats.org/officeDocument/2006/relationships/slide" Target="/ppt/slides/slide8.xml" Id="R21f6353d7e874833" /><Relationship Type="http://schemas.openxmlformats.org/officeDocument/2006/relationships/slide" Target="/ppt/slides/slide9.xml" Id="R257b0c11709b499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bf0932c93a54c4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175179d16e04b87" /><Relationship Type="http://schemas.openxmlformats.org/officeDocument/2006/relationships/notesMaster" Target="/ppt/notesMasters/notesMaster1.xml" Id="R1ce0dfd40330423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2d9fffacd0a41cc" /><Relationship Type="http://schemas.openxmlformats.org/officeDocument/2006/relationships/notesMaster" Target="/ppt/notesMasters/notesMaster1.xml" Id="R3bde62c71b7d479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0ead81e0faf4db1" /><Relationship Type="http://schemas.openxmlformats.org/officeDocument/2006/relationships/notesMaster" Target="/ppt/notesMasters/notesMaster1.xml" Id="R88377569067c44c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6762abcacd14847" /><Relationship Type="http://schemas.openxmlformats.org/officeDocument/2006/relationships/notesMaster" Target="/ppt/notesMasters/notesMaster1.xml" Id="R1348cc387a13484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8aac84827eb493f" /><Relationship Type="http://schemas.openxmlformats.org/officeDocument/2006/relationships/notesMaster" Target="/ppt/notesMasters/notesMaster1.xml" Id="Rd3641c159af249a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e789853185644603" /><Relationship Type="http://schemas.openxmlformats.org/officeDocument/2006/relationships/notesMaster" Target="/ppt/notesMasters/notesMaster1.xml" Id="Rd7842b4e0aa04724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73919f3b48944e8d" /><Relationship Type="http://schemas.openxmlformats.org/officeDocument/2006/relationships/notesMaster" Target="/ppt/notesMasters/notesMaster1.xml" Id="R23104b26de954db3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57c886528dc7495c" /><Relationship Type="http://schemas.openxmlformats.org/officeDocument/2006/relationships/notesMaster" Target="/ppt/notesMasters/notesMaster1.xml" Id="Rf139e49bfc584de1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73d0c99147ed4b21" /><Relationship Type="http://schemas.openxmlformats.org/officeDocument/2006/relationships/notesMaster" Target="/ppt/notesMasters/notesMaster1.xml" Id="R302b61678d48452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024eca1ab894f7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40e89b877ba4f43" /><Relationship Type="http://schemas.openxmlformats.org/officeDocument/2006/relationships/slideLayout" Target="/ppt/slideLayouts/slideLayout1.xml" Id="Rdea474afeef34c4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ea474afeef34c4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3fe873223f2497f" /><Relationship Type="http://schemas.openxmlformats.org/officeDocument/2006/relationships/image" Target="/ppt/media/image.png" Id="R4a8838698db0430d" /><Relationship Type="http://schemas.openxmlformats.org/officeDocument/2006/relationships/notesSlide" Target="/ppt/notesSlides/notesSlide1.xml" Id="R6b4ff2a41f97480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21a778371a64ef7" /><Relationship Type="http://schemas.openxmlformats.org/officeDocument/2006/relationships/image" Target="/ppt/media/image2.png" Id="R6e7482f78132417f" /><Relationship Type="http://schemas.openxmlformats.org/officeDocument/2006/relationships/notesSlide" Target="/ppt/notesSlides/notesSlide2.xml" Id="R0350ca244f8e4a7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82677d8b66f407f" /><Relationship Type="http://schemas.openxmlformats.org/officeDocument/2006/relationships/notesSlide" Target="/ppt/notesSlides/notesSlide3.xml" Id="Rd46ec2bf1d944c0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f2f012a01f24b5a" /><Relationship Type="http://schemas.openxmlformats.org/officeDocument/2006/relationships/notesSlide" Target="/ppt/notesSlides/notesSlide4.xml" Id="R259a68cfec2b40d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90494b3c5cf4663" /><Relationship Type="http://schemas.openxmlformats.org/officeDocument/2006/relationships/image" Target="/ppt/media/image3.png" Id="Rc010444323ff4c8d" /><Relationship Type="http://schemas.openxmlformats.org/officeDocument/2006/relationships/notesSlide" Target="/ppt/notesSlides/notesSlide5.xml" Id="R658113485911496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dc313c455c14903" /><Relationship Type="http://schemas.openxmlformats.org/officeDocument/2006/relationships/notesSlide" Target="/ppt/notesSlides/notesSlide6.xml" Id="R069827d236cf4c8f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beeed21af5d463f" /><Relationship Type="http://schemas.openxmlformats.org/officeDocument/2006/relationships/notesSlide" Target="/ppt/notesSlides/notesSlide7.xml" Id="R00bafd343bf64511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f3154f842d04020" /><Relationship Type="http://schemas.openxmlformats.org/officeDocument/2006/relationships/notesSlide" Target="/ppt/notesSlides/notesSlide8.xml" Id="Ra587b2d1e8ec4fb5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0f006c52f544f7c" /><Relationship Type="http://schemas.openxmlformats.org/officeDocument/2006/relationships/notesSlide" Target="/ppt/notesSlides/notesSlide9.xml" Id="Rf865388484dc4e8c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a8838698db0430d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667500" y="1762125"/>
            <a:ext cx="5029200" cy="3143250"/>
          </a:xfrm>
          <a:prstGeom xmlns:a="http://schemas.openxmlformats.org/drawingml/2006/main" prst="roundRect">
            <a:avLst>
              <a:gd name="adj" fmla="val 3636"/>
            </a:avLst>
          </a:prstGeom>
        </p:spPr>
      </p:pic>
      <p:sp>
        <p:nvSpPr>
          <p:cNvPr id="2" name="cover-accent">
            <a:extLst xmlns:a="http://schemas.openxmlformats.org/drawingml/2006/main">
              <a:ext uri="{FF2B5EF4-FFF2-40B4-BE49-F238E27FC236}">
                <a16:creationId xmlns:a16="http://schemas.microsoft.com/office/drawing/2014/main" id="{10A6DCDC-F077-4005-9989-15A27EC9D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95300"/>
            <a:ext cx="95250" cy="5581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5E7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cover-eyebrow">
            <a:extLst xmlns:a="http://schemas.openxmlformats.org/drawingml/2006/main">
              <a:ext uri="{FF2B5EF4-FFF2-40B4-BE49-F238E27FC236}">
                <a16:creationId xmlns:a16="http://schemas.microsoft.com/office/drawing/2014/main" id="{9179227D-374F-4168-A47B-E46F12DEE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90550"/>
            <a:ext cx="40005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E45E76"/>
                </a:solidFill>
                <a:latin typeface="Arial"/>
                <a:ea typeface="Arial"/>
                <a:cs typeface="Arial"/>
              </a:defRPr>
            </a:pPr>
            <a:r>
              <a:t>RISE MEDICAL HUB</a:t>
            </a:r>
          </a:p>
        </p:txBody>
      </p:sp>
      <p:sp>
        <p:nvSpPr>
          <p:cNvPr id="4" name="cover-title">
            <a:extLst xmlns:a="http://schemas.openxmlformats.org/drawingml/2006/main">
              <a:ext uri="{FF2B5EF4-FFF2-40B4-BE49-F238E27FC236}">
                <a16:creationId xmlns:a16="http://schemas.microsoft.com/office/drawing/2014/main" id="{D455E815-D2E6-423B-A834-E6F30B0D2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428750"/>
            <a:ext cx="5334000" cy="24288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350" b="1" i="0">
                <a:solidFill>
                  <a:srgbClr val="102441"/>
                </a:solidFill>
                <a:latin typeface="Arial"/>
                <a:ea typeface="Arial"/>
                <a:cs typeface="Arial"/>
              </a:defRPr>
            </a:pPr>
            <a:r>
              <a:t>Rise needs a digital front door—not another brochure.</a:t>
            </a:r>
          </a:p>
        </p:txBody>
      </p:sp>
      <p:sp>
        <p:nvSpPr>
          <p:cNvPr id="5" name="cover-subtitle">
            <a:extLst xmlns:a="http://schemas.openxmlformats.org/drawingml/2006/main">
              <a:ext uri="{FF2B5EF4-FFF2-40B4-BE49-F238E27FC236}">
                <a16:creationId xmlns:a16="http://schemas.microsoft.com/office/drawing/2014/main" id="{5E8BE2ED-3878-433C-B9C2-D575C9F89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238625"/>
            <a:ext cx="5191125" cy="1143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 i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t>Why the redesigned website matters for patient trust, clinical credibility, discoverability, and enquiry conversion.</a:t>
            </a:r>
          </a:p>
        </p:txBody>
      </p:sp>
      <p:sp>
        <p:nvSpPr>
          <p:cNvPr id="6" name="cover-date">
            <a:extLst xmlns:a="http://schemas.openxmlformats.org/drawingml/2006/main">
              <a:ext uri="{FF2B5EF4-FFF2-40B4-BE49-F238E27FC236}">
                <a16:creationId xmlns:a16="http://schemas.microsoft.com/office/drawing/2014/main" id="{E9CF480D-7682-48E9-BEF1-D22B66176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724525"/>
            <a:ext cx="40005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102441"/>
                </a:solidFill>
                <a:latin typeface="Arial"/>
                <a:ea typeface="Arial"/>
                <a:cs typeface="Arial"/>
              </a:defRPr>
            </a:pPr>
            <a:r>
              <a:t>DECISION DECK · 18 JULY 2026</a:t>
            </a:r>
          </a:p>
        </p:txBody>
      </p:sp>
      <p:cxnSp>
        <p:nvCxnSpPr>
          <p:cNvPr id="17" name="footer-rule-1"/>
          <p:cNvCxnSpPr/>
          <p:nvPr/>
        </p:nvCxnSpPr>
        <p:spPr>
          <a:xfrm xmlns:a="http://schemas.openxmlformats.org/drawingml/2006/main">
            <a:off x="495300" y="6305550"/>
            <a:ext cx="11201400" cy="9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6CDD6"/>
            </a:solidFill>
            <a:prstDash val="solid"/>
          </a:ln>
        </p:spPr>
      </p:cxnSp>
      <p:sp>
        <p:nvSpPr>
          <p:cNvPr id="8" name="footer-left-1">
            <a:extLst xmlns:a="http://schemas.openxmlformats.org/drawingml/2006/main">
              <a:ext uri="{FF2B5EF4-FFF2-40B4-BE49-F238E27FC236}">
                <a16:creationId xmlns:a16="http://schemas.microsoft.com/office/drawing/2014/main" id="{E308A205-5777-4376-8A70-B565AE44E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19850"/>
            <a:ext cx="40005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t>RISE MEDICAL HUB · WEBSITE DECISION</a:t>
            </a:r>
          </a:p>
        </p:txBody>
      </p:sp>
      <p:sp>
        <p:nvSpPr>
          <p:cNvPr id="9" name="footer-no-1">
            <a:extLst xmlns:a="http://schemas.openxmlformats.org/drawingml/2006/main">
              <a:ext uri="{FF2B5EF4-FFF2-40B4-BE49-F238E27FC236}">
                <a16:creationId xmlns:a16="http://schemas.microsoft.com/office/drawing/2014/main" id="{EF18CF63-FD31-4362-B2F8-1F879ADC2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419850"/>
            <a:ext cx="4762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t>01</a:t>
            </a:r>
          </a:p>
        </p:txBody>
      </p:sp>
      <p:sp>
        <p:nvSpPr>
          <p:cNvPr id="10" name="source-1">
            <a:extLst xmlns:a="http://schemas.openxmlformats.org/drawingml/2006/main">
              <a:ext uri="{FF2B5EF4-FFF2-40B4-BE49-F238E27FC236}">
                <a16:creationId xmlns:a16="http://schemas.microsoft.com/office/drawing/2014/main" id="{879815A6-32D0-4F1D-A894-1B1B4967A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6419850"/>
            <a:ext cx="59055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0" i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t>Redesigned staging site</a:t>
            </a:r>
          </a:p>
        </p:txBody>
      </p:sp>
    </p:spTree>
    <p:extLst>
      <p:ext uri="{BB962C8B-B14F-4D97-AF65-F5344CB8AC3E}">
        <p14:creationId xmlns:p14="http://schemas.microsoft.com/office/powerpoint/2010/main" val="56809094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e7482f78132417f"/>
          <a:srcRect xmlns:a="http://schemas.openxmlformats.org/drawingml/2006/main" l="5669" t="0" r="5669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95300" y="1619250"/>
            <a:ext cx="5810250" cy="4095750"/>
          </a:xfrm>
          <a:prstGeom xmlns:a="http://schemas.openxmlformats.org/drawingml/2006/main" prst="roundRect">
            <a:avLst>
              <a:gd name="adj" fmla="val 2791"/>
            </a:avLst>
          </a:prstGeom>
        </p:spPr>
      </p:pic>
      <p:sp>
        <p:nvSpPr>
          <p:cNvPr id="2" name="s2-eyebrow">
            <a:extLst xmlns:a="http://schemas.openxmlformats.org/drawingml/2006/main">
              <a:ext uri="{FF2B5EF4-FFF2-40B4-BE49-F238E27FC236}">
                <a16:creationId xmlns:a16="http://schemas.microsoft.com/office/drawing/2014/main" id="{68FFDAF7-F334-495E-8BF4-E294C1E7C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61950"/>
            <a:ext cx="24765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E45E76"/>
                </a:solidFill>
                <a:latin typeface="Arial"/>
                <a:ea typeface="Arial"/>
                <a:cs typeface="Arial"/>
              </a:defRPr>
            </a:pPr>
            <a:r>
              <a:t>CURRENT STATE</a:t>
            </a:r>
          </a:p>
        </p:txBody>
      </p:sp>
      <p:sp>
        <p:nvSpPr>
          <p:cNvPr id="3" name="s2-title">
            <a:extLst xmlns:a="http://schemas.openxmlformats.org/drawingml/2006/main">
              <a:ext uri="{FF2B5EF4-FFF2-40B4-BE49-F238E27FC236}">
                <a16:creationId xmlns:a16="http://schemas.microsoft.com/office/drawing/2014/main" id="{CB1480BE-818A-45D5-ACE1-FD7ADE9D3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723900"/>
            <a:ext cx="112014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 i="0">
                <a:solidFill>
                  <a:srgbClr val="102441"/>
                </a:solidFill>
                <a:latin typeface="Arial"/>
                <a:ea typeface="Arial"/>
                <a:cs typeface="Arial"/>
              </a:defRPr>
            </a:pPr>
            <a:r>
              <a:t>The current site is visible—but not distinctive.</a:t>
            </a:r>
          </a:p>
        </p:txBody>
      </p:sp>
      <p:sp>
        <p:nvSpPr>
          <p:cNvPr id="4" name="s2-side-panel">
            <a:extLst xmlns:a="http://schemas.openxmlformats.org/drawingml/2006/main">
              <a:ext uri="{FF2B5EF4-FFF2-40B4-BE49-F238E27FC236}">
                <a16:creationId xmlns:a16="http://schemas.microsoft.com/office/drawing/2014/main" id="{4200DD81-BC6F-48B1-920B-A291C75A2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1619250"/>
            <a:ext cx="4991100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s2-coral-mark">
            <a:extLst xmlns:a="http://schemas.openxmlformats.org/drawingml/2006/main">
              <a:ext uri="{FF2B5EF4-FFF2-40B4-BE49-F238E27FC236}">
                <a16:creationId xmlns:a16="http://schemas.microsoft.com/office/drawing/2014/main" id="{31432D9B-9FD9-4A32-B3DD-24D9C67BB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1619250"/>
            <a:ext cx="76200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5E7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s2-h1">
            <a:extLst xmlns:a="http://schemas.openxmlformats.org/drawingml/2006/main">
              <a:ext uri="{FF2B5EF4-FFF2-40B4-BE49-F238E27FC236}">
                <a16:creationId xmlns:a16="http://schemas.microsoft.com/office/drawing/2014/main" id="{37D2AF57-6C44-4344-A4BE-AC2308D08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1924050"/>
            <a:ext cx="40957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102441"/>
                </a:solidFill>
                <a:latin typeface="Arial"/>
                <a:ea typeface="Arial"/>
                <a:cs typeface="Arial"/>
              </a:defRPr>
            </a:pPr>
            <a:r>
              <a:t>A generic promise</a:t>
            </a:r>
          </a:p>
        </p:txBody>
      </p:sp>
      <p:sp>
        <p:nvSpPr>
          <p:cNvPr id="7" name="s2-b1">
            <a:extLst xmlns:a="http://schemas.openxmlformats.org/drawingml/2006/main">
              <a:ext uri="{FF2B5EF4-FFF2-40B4-BE49-F238E27FC236}">
                <a16:creationId xmlns:a16="http://schemas.microsoft.com/office/drawing/2014/main" id="{B61CC313-2D95-4CEC-A513-7227B4467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2362200"/>
            <a:ext cx="4000500" cy="876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t>“Your Health is our Priority” could belong to almost any clinic. It does not explain Rise’s connected care, specialists, or heart-care focus.</a:t>
            </a:r>
          </a:p>
        </p:txBody>
      </p:sp>
      <p:cxnSp>
        <p:nvCxnSpPr>
          <p:cNvPr id="25" name="s2-r1"/>
          <p:cNvCxnSpPr/>
          <p:nvPr/>
        </p:nvCxnSpPr>
        <p:spPr>
          <a:xfrm xmlns:a="http://schemas.openxmlformats.org/drawingml/2006/main">
            <a:off x="7124700" y="3381375"/>
            <a:ext cx="4000500" cy="9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6CDD6"/>
            </a:solidFill>
            <a:prstDash val="solid"/>
          </a:ln>
        </p:spPr>
      </p:cxnSp>
      <p:sp>
        <p:nvSpPr>
          <p:cNvPr id="9" name="s2-h2">
            <a:extLst xmlns:a="http://schemas.openxmlformats.org/drawingml/2006/main">
              <a:ext uri="{FF2B5EF4-FFF2-40B4-BE49-F238E27FC236}">
                <a16:creationId xmlns:a16="http://schemas.microsoft.com/office/drawing/2014/main" id="{E77CD9CB-4BC2-43FE-B7B2-D81C9FF9F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3600450"/>
            <a:ext cx="40957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102441"/>
                </a:solidFill>
                <a:latin typeface="Arial"/>
                <a:ea typeface="Arial"/>
                <a:cs typeface="Arial"/>
              </a:defRPr>
            </a:pPr>
            <a:r>
              <a:t>Trust arrives too late</a:t>
            </a:r>
          </a:p>
        </p:txBody>
      </p:sp>
      <p:sp>
        <p:nvSpPr>
          <p:cNvPr id="10" name="s2-b2">
            <a:extLst xmlns:a="http://schemas.openxmlformats.org/drawingml/2006/main">
              <a:ext uri="{FF2B5EF4-FFF2-40B4-BE49-F238E27FC236}">
                <a16:creationId xmlns:a16="http://schemas.microsoft.com/office/drawing/2014/main" id="{5E708EA9-D668-4094-B155-DA3194C7E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4038600"/>
            <a:ext cx="4000500" cy="685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t>Doctors, evidence, suitability, and patient expectations are missing from the first decision journey.</a:t>
            </a:r>
          </a:p>
        </p:txBody>
      </p:sp>
      <p:cxnSp>
        <p:nvCxnSpPr>
          <p:cNvPr id="28" name="s2-r2"/>
          <p:cNvCxnSpPr/>
          <p:nvPr/>
        </p:nvCxnSpPr>
        <p:spPr>
          <a:xfrm xmlns:a="http://schemas.openxmlformats.org/drawingml/2006/main">
            <a:off x="7124700" y="4876800"/>
            <a:ext cx="4000500" cy="9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6CDD6"/>
            </a:solidFill>
            <a:prstDash val="solid"/>
          </a:ln>
        </p:spPr>
      </p:cxnSp>
      <p:sp>
        <p:nvSpPr>
          <p:cNvPr id="12" name="s2-h3">
            <a:extLst xmlns:a="http://schemas.openxmlformats.org/drawingml/2006/main">
              <a:ext uri="{FF2B5EF4-FFF2-40B4-BE49-F238E27FC236}">
                <a16:creationId xmlns:a16="http://schemas.microsoft.com/office/drawing/2014/main" id="{8BE95024-AEAF-415D-9BFE-E344B5562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5076825"/>
            <a:ext cx="40957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E45E76"/>
                </a:solidFill>
                <a:latin typeface="Arial"/>
                <a:ea typeface="Arial"/>
                <a:cs typeface="Arial"/>
              </a:defRPr>
            </a:pPr>
            <a:r>
              <a:t>The result</a:t>
            </a:r>
          </a:p>
        </p:txBody>
      </p:sp>
      <p:sp>
        <p:nvSpPr>
          <p:cNvPr id="13" name="s2-b3">
            <a:extLst xmlns:a="http://schemas.openxmlformats.org/drawingml/2006/main">
              <a:ext uri="{FF2B5EF4-FFF2-40B4-BE49-F238E27FC236}">
                <a16:creationId xmlns:a16="http://schemas.microsoft.com/office/drawing/2014/main" id="{16D9D52D-7947-4A79-957D-A5D506F72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5391150"/>
            <a:ext cx="400050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102441"/>
                </a:solidFill>
                <a:latin typeface="Arial"/>
                <a:ea typeface="Arial"/>
                <a:cs typeface="Arial"/>
              </a:defRPr>
            </a:pPr>
            <a:r>
              <a:t>The website lists services, but does not yet build a reason to choose Rise.</a:t>
            </a:r>
          </a:p>
        </p:txBody>
      </p:sp>
      <p:cxnSp>
        <p:nvCxnSpPr>
          <p:cNvPr id="31" name="footer-rule-2"/>
          <p:cNvCxnSpPr/>
          <p:nvPr/>
        </p:nvCxnSpPr>
        <p:spPr>
          <a:xfrm xmlns:a="http://schemas.openxmlformats.org/drawingml/2006/main">
            <a:off x="495300" y="6305550"/>
            <a:ext cx="11201400" cy="9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6CDD6"/>
            </a:solidFill>
            <a:prstDash val="solid"/>
          </a:ln>
        </p:spPr>
      </p:cxnSp>
      <p:sp>
        <p:nvSpPr>
          <p:cNvPr id="15" name="footer-left-2">
            <a:extLst xmlns:a="http://schemas.openxmlformats.org/drawingml/2006/main">
              <a:ext uri="{FF2B5EF4-FFF2-40B4-BE49-F238E27FC236}">
                <a16:creationId xmlns:a16="http://schemas.microsoft.com/office/drawing/2014/main" id="{1AC1157F-6422-495E-A32C-D78DC9EA1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19850"/>
            <a:ext cx="40005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t>RISE MEDICAL HUB · WEBSITE DECISION</a:t>
            </a:r>
          </a:p>
        </p:txBody>
      </p:sp>
      <p:sp>
        <p:nvSpPr>
          <p:cNvPr id="16" name="footer-no-2">
            <a:extLst xmlns:a="http://schemas.openxmlformats.org/drawingml/2006/main">
              <a:ext uri="{FF2B5EF4-FFF2-40B4-BE49-F238E27FC236}">
                <a16:creationId xmlns:a16="http://schemas.microsoft.com/office/drawing/2014/main" id="{CFF28970-F1DA-48C4-9716-5FC5E38B3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419850"/>
            <a:ext cx="4762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t>02</a:t>
            </a:r>
          </a:p>
        </p:txBody>
      </p:sp>
      <p:sp>
        <p:nvSpPr>
          <p:cNvPr id="17" name="source-2">
            <a:extLst xmlns:a="http://schemas.openxmlformats.org/drawingml/2006/main">
              <a:ext uri="{FF2B5EF4-FFF2-40B4-BE49-F238E27FC236}">
                <a16:creationId xmlns:a16="http://schemas.microsoft.com/office/drawing/2014/main" id="{DF32C733-E696-40BD-BF5F-FDDE5AF85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6419850"/>
            <a:ext cx="59055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0" i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t>Source: risemedicalhub.com · inspected 18 Jul 2026</a:t>
            </a:r>
          </a:p>
        </p:txBody>
      </p:sp>
    </p:spTree>
    <p:extLst>
      <p:ext uri="{BB962C8B-B14F-4D97-AF65-F5344CB8AC3E}">
        <p14:creationId xmlns:p14="http://schemas.microsoft.com/office/powerpoint/2010/main" val="80229261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s3-eyebrow">
            <a:extLst xmlns:a="http://schemas.openxmlformats.org/drawingml/2006/main">
              <a:ext uri="{FF2B5EF4-FFF2-40B4-BE49-F238E27FC236}">
                <a16:creationId xmlns:a16="http://schemas.microsoft.com/office/drawing/2014/main" id="{1075C8D0-60E3-4552-B8F1-155FA866B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61950"/>
            <a:ext cx="40005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E45E76"/>
                </a:solidFill>
                <a:latin typeface="Arial"/>
                <a:ea typeface="Arial"/>
                <a:cs typeface="Arial"/>
              </a:defRPr>
            </a:pPr>
            <a:r>
              <a:t>MEASURED LIVE-SITE EVIDENCE</a:t>
            </a:r>
          </a:p>
        </p:txBody>
      </p:sp>
      <p:sp>
        <p:nvSpPr>
          <p:cNvPr id="2" name="s3-title">
            <a:extLst xmlns:a="http://schemas.openxmlformats.org/drawingml/2006/main">
              <a:ext uri="{FF2B5EF4-FFF2-40B4-BE49-F238E27FC236}">
                <a16:creationId xmlns:a16="http://schemas.microsoft.com/office/drawing/2014/main" id="{5FB8118D-7EB7-4404-9150-588EA677F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723900"/>
            <a:ext cx="112014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 i="0">
                <a:solidFill>
                  <a:srgbClr val="102441"/>
                </a:solidFill>
                <a:latin typeface="Arial"/>
                <a:ea typeface="Arial"/>
                <a:cs typeface="Arial"/>
              </a:defRPr>
            </a:pPr>
            <a:r>
              <a:t>Friction appears before trust can form.</a:t>
            </a:r>
          </a:p>
        </p:txBody>
      </p:sp>
      <p:sp>
        <p:nvSpPr>
          <p:cNvPr id="3" name="s3-intro">
            <a:extLst xmlns:a="http://schemas.openxmlformats.org/drawingml/2006/main">
              <a:ext uri="{FF2B5EF4-FFF2-40B4-BE49-F238E27FC236}">
                <a16:creationId xmlns:a16="http://schemas.microsoft.com/office/drawing/2014/main" id="{785FF389-2216-41A0-A068-E969AFF93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381125"/>
            <a:ext cx="981075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t>These are not aesthetic preferences. They are structural signals affecting comprehension, accessibility, and discoverability.</a:t>
            </a:r>
          </a:p>
        </p:txBody>
      </p:sp>
      <p:sp>
        <p:nvSpPr>
          <p:cNvPr id="4" name="s3-panel-0">
            <a:extLst xmlns:a="http://schemas.openxmlformats.org/drawingml/2006/main">
              <a:ext uri="{FF2B5EF4-FFF2-40B4-BE49-F238E27FC236}">
                <a16:creationId xmlns:a16="http://schemas.microsoft.com/office/drawing/2014/main" id="{D48CF784-8E01-45D2-8C0F-39898E7A7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381250"/>
            <a:ext cx="3333750" cy="3314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1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s3-stat-0">
            <a:extLst xmlns:a="http://schemas.openxmlformats.org/drawingml/2006/main">
              <a:ext uri="{FF2B5EF4-FFF2-40B4-BE49-F238E27FC236}">
                <a16:creationId xmlns:a16="http://schemas.microsoft.com/office/drawing/2014/main" id="{BF1D4105-E194-4DA4-BF91-0B34BE6B1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86050"/>
            <a:ext cx="2762250" cy="1104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150" b="1" i="0">
                <a:solidFill>
                  <a:srgbClr val="102441"/>
                </a:solidFill>
                <a:latin typeface="Arial"/>
                <a:ea typeface="Arial"/>
                <a:cs typeface="Arial"/>
              </a:defRPr>
            </a:pPr>
            <a:r>
              <a:t>2</a:t>
            </a:r>
          </a:p>
        </p:txBody>
      </p:sp>
      <p:sp>
        <p:nvSpPr>
          <p:cNvPr id="6" name="s3-label-0">
            <a:extLst xmlns:a="http://schemas.openxmlformats.org/drawingml/2006/main">
              <a:ext uri="{FF2B5EF4-FFF2-40B4-BE49-F238E27FC236}">
                <a16:creationId xmlns:a16="http://schemas.microsoft.com/office/drawing/2014/main" id="{1364A7D6-39A5-48B0-AF6E-6101E73BD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914775"/>
            <a:ext cx="27622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102441"/>
                </a:solidFill>
                <a:latin typeface="Arial"/>
                <a:ea typeface="Arial"/>
                <a:cs typeface="Arial"/>
              </a:defRPr>
            </a:pPr>
            <a:r>
              <a:t>duplicate H1 headings</a:t>
            </a:r>
          </a:p>
        </p:txBody>
      </p:sp>
      <p:sp>
        <p:nvSpPr>
          <p:cNvPr id="7" name="s3-copy-0">
            <a:extLst xmlns:a="http://schemas.openxmlformats.org/drawingml/2006/main">
              <a:ext uri="{FF2B5EF4-FFF2-40B4-BE49-F238E27FC236}">
                <a16:creationId xmlns:a16="http://schemas.microsoft.com/office/drawing/2014/main" id="{D4C63E10-5459-457E-A99A-2B540BBA7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24375"/>
            <a:ext cx="2762250" cy="857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t>The same hero promise is rendered twice on the live homepage.</a:t>
            </a:r>
          </a:p>
        </p:txBody>
      </p:sp>
      <p:sp>
        <p:nvSpPr>
          <p:cNvPr id="8" name="s3-panel-1">
            <a:extLst xmlns:a="http://schemas.openxmlformats.org/drawingml/2006/main">
              <a:ext uri="{FF2B5EF4-FFF2-40B4-BE49-F238E27FC236}">
                <a16:creationId xmlns:a16="http://schemas.microsoft.com/office/drawing/2014/main" id="{08F6CC59-B82D-4027-A9AA-69CCED46E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2381250"/>
            <a:ext cx="3333750" cy="3314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1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s3-stat-1">
            <a:extLst xmlns:a="http://schemas.openxmlformats.org/drawingml/2006/main">
              <a:ext uri="{FF2B5EF4-FFF2-40B4-BE49-F238E27FC236}">
                <a16:creationId xmlns:a16="http://schemas.microsoft.com/office/drawing/2014/main" id="{5F038A5A-5DD9-4185-8ADA-2870524EA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686050"/>
            <a:ext cx="2762250" cy="1104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150" b="1" i="0">
                <a:solidFill>
                  <a:srgbClr val="102441"/>
                </a:solidFill>
                <a:latin typeface="Arial"/>
                <a:ea typeface="Arial"/>
                <a:cs typeface="Arial"/>
              </a:defRPr>
            </a:pPr>
            <a:r>
              <a:t>13</a:t>
            </a:r>
          </a:p>
        </p:txBody>
      </p:sp>
      <p:sp>
        <p:nvSpPr>
          <p:cNvPr id="10" name="s3-label-1">
            <a:extLst xmlns:a="http://schemas.openxmlformats.org/drawingml/2006/main">
              <a:ext uri="{FF2B5EF4-FFF2-40B4-BE49-F238E27FC236}">
                <a16:creationId xmlns:a16="http://schemas.microsoft.com/office/drawing/2014/main" id="{01523206-F00C-47C6-AE96-AE7B684D1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914775"/>
            <a:ext cx="27622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102441"/>
                </a:solidFill>
                <a:latin typeface="Arial"/>
                <a:ea typeface="Arial"/>
                <a:cs typeface="Arial"/>
              </a:defRPr>
            </a:pPr>
            <a:r>
              <a:t>dead-end # links</a:t>
            </a:r>
          </a:p>
        </p:txBody>
      </p:sp>
      <p:sp>
        <p:nvSpPr>
          <p:cNvPr id="11" name="s3-copy-1">
            <a:extLst xmlns:a="http://schemas.openxmlformats.org/drawingml/2006/main">
              <a:ext uri="{FF2B5EF4-FFF2-40B4-BE49-F238E27FC236}">
                <a16:creationId xmlns:a16="http://schemas.microsoft.com/office/drawing/2014/main" id="{499540D4-1A4C-4153-A691-227CA0C6A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4524375"/>
            <a:ext cx="2762250" cy="857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t>Clicks lead nowhere and weaken navigation and accessibility.</a:t>
            </a:r>
          </a:p>
        </p:txBody>
      </p:sp>
      <p:sp>
        <p:nvSpPr>
          <p:cNvPr id="12" name="s3-panel-2">
            <a:extLst xmlns:a="http://schemas.openxmlformats.org/drawingml/2006/main">
              <a:ext uri="{FF2B5EF4-FFF2-40B4-BE49-F238E27FC236}">
                <a16:creationId xmlns:a16="http://schemas.microsoft.com/office/drawing/2014/main" id="{D64F974A-E3BF-43B8-B002-204E74D7F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381250"/>
            <a:ext cx="3333750" cy="3314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E1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s3-stat-2">
            <a:extLst xmlns:a="http://schemas.openxmlformats.org/drawingml/2006/main">
              <a:ext uri="{FF2B5EF4-FFF2-40B4-BE49-F238E27FC236}">
                <a16:creationId xmlns:a16="http://schemas.microsoft.com/office/drawing/2014/main" id="{228DC46A-B2CB-4A84-A871-8BD6F3BF2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686050"/>
            <a:ext cx="2762250" cy="1104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150" b="1" i="0">
                <a:solidFill>
                  <a:srgbClr val="B93C55"/>
                </a:solidFill>
                <a:latin typeface="Arial"/>
                <a:ea typeface="Arial"/>
                <a:cs typeface="Arial"/>
              </a:defRPr>
            </a:pPr>
            <a:r>
              <a:t>0</a:t>
            </a:r>
          </a:p>
        </p:txBody>
      </p:sp>
      <p:sp>
        <p:nvSpPr>
          <p:cNvPr id="14" name="s3-label-2">
            <a:extLst xmlns:a="http://schemas.openxmlformats.org/drawingml/2006/main">
              <a:ext uri="{FF2B5EF4-FFF2-40B4-BE49-F238E27FC236}">
                <a16:creationId xmlns:a16="http://schemas.microsoft.com/office/drawing/2014/main" id="{7B721B93-8D4D-4E0D-BFD5-AAA96D542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914775"/>
            <a:ext cx="27622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102441"/>
                </a:solidFill>
                <a:latin typeface="Arial"/>
                <a:ea typeface="Arial"/>
                <a:cs typeface="Arial"/>
              </a:defRPr>
            </a:pPr>
            <a:r>
              <a:t>canonical tags or schema</a:t>
            </a:r>
          </a:p>
        </p:txBody>
      </p:sp>
      <p:sp>
        <p:nvSpPr>
          <p:cNvPr id="15" name="s3-copy-2">
            <a:extLst xmlns:a="http://schemas.openxmlformats.org/drawingml/2006/main">
              <a:ext uri="{FF2B5EF4-FFF2-40B4-BE49-F238E27FC236}">
                <a16:creationId xmlns:a16="http://schemas.microsoft.com/office/drawing/2014/main" id="{23909308-82B9-4C49-808F-AE5973B4D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4524375"/>
            <a:ext cx="2762250" cy="857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t>Search engines receive little help understanding the clinic or page hierarchy.</a:t>
            </a:r>
          </a:p>
        </p:txBody>
      </p:sp>
      <p:cxnSp>
        <p:nvCxnSpPr>
          <p:cNvPr id="35" name="footer-rule-3"/>
          <p:cNvCxnSpPr/>
          <p:nvPr/>
        </p:nvCxnSpPr>
        <p:spPr>
          <a:xfrm xmlns:a="http://schemas.openxmlformats.org/drawingml/2006/main">
            <a:off x="495300" y="6305550"/>
            <a:ext cx="11201400" cy="9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6CDD6"/>
            </a:solidFill>
            <a:prstDash val="solid"/>
          </a:ln>
        </p:spPr>
      </p:cxnSp>
      <p:sp>
        <p:nvSpPr>
          <p:cNvPr id="17" name="footer-left-3">
            <a:extLst xmlns:a="http://schemas.openxmlformats.org/drawingml/2006/main">
              <a:ext uri="{FF2B5EF4-FFF2-40B4-BE49-F238E27FC236}">
                <a16:creationId xmlns:a16="http://schemas.microsoft.com/office/drawing/2014/main" id="{41961179-F8A6-42B4-8A53-B4A3E3BE0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19850"/>
            <a:ext cx="40005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t>RISE MEDICAL HUB · WEBSITE DECISION</a:t>
            </a:r>
          </a:p>
        </p:txBody>
      </p:sp>
      <p:sp>
        <p:nvSpPr>
          <p:cNvPr id="18" name="footer-no-3">
            <a:extLst xmlns:a="http://schemas.openxmlformats.org/drawingml/2006/main">
              <a:ext uri="{FF2B5EF4-FFF2-40B4-BE49-F238E27FC236}">
                <a16:creationId xmlns:a16="http://schemas.microsoft.com/office/drawing/2014/main" id="{3F390A69-27DE-4237-8FF3-BC5E64A79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419850"/>
            <a:ext cx="4762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t>03</a:t>
            </a:r>
          </a:p>
        </p:txBody>
      </p:sp>
      <p:sp>
        <p:nvSpPr>
          <p:cNvPr id="19" name="source-3">
            <a:extLst xmlns:a="http://schemas.openxmlformats.org/drawingml/2006/main">
              <a:ext uri="{FF2B5EF4-FFF2-40B4-BE49-F238E27FC236}">
                <a16:creationId xmlns:a16="http://schemas.microsoft.com/office/drawing/2014/main" id="{12F7F28E-5D26-4C89-9F20-D8F2EBC01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6419850"/>
            <a:ext cx="59055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0" i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t>Source: live homepage DOM audit · 18 Jul 2026</a:t>
            </a:r>
          </a:p>
        </p:txBody>
      </p:sp>
    </p:spTree>
    <p:extLst>
      <p:ext uri="{BB962C8B-B14F-4D97-AF65-F5344CB8AC3E}">
        <p14:creationId xmlns:p14="http://schemas.microsoft.com/office/powerpoint/2010/main" val="103325194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s4-eyebrow">
            <a:extLst xmlns:a="http://schemas.openxmlformats.org/drawingml/2006/main">
              <a:ext uri="{FF2B5EF4-FFF2-40B4-BE49-F238E27FC236}">
                <a16:creationId xmlns:a16="http://schemas.microsoft.com/office/drawing/2014/main" id="{39E4681B-AD07-4398-9E4A-D3FAACB23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61950"/>
            <a:ext cx="40005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E45E76"/>
                </a:solidFill>
                <a:latin typeface="Arial"/>
                <a:ea typeface="Arial"/>
                <a:cs typeface="Arial"/>
              </a:defRPr>
            </a:pPr>
            <a:r>
              <a:t>THE REDESIGNED JOURNEY</a:t>
            </a:r>
          </a:p>
        </p:txBody>
      </p:sp>
      <p:sp>
        <p:nvSpPr>
          <p:cNvPr id="2" name="s4-title">
            <a:extLst xmlns:a="http://schemas.openxmlformats.org/drawingml/2006/main">
              <a:ext uri="{FF2B5EF4-FFF2-40B4-BE49-F238E27FC236}">
                <a16:creationId xmlns:a16="http://schemas.microsoft.com/office/drawing/2014/main" id="{A7A6070D-C074-4564-A2D3-594DA6762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723900"/>
            <a:ext cx="112014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 i="0">
                <a:solidFill>
                  <a:srgbClr val="102441"/>
                </a:solidFill>
                <a:latin typeface="Arial"/>
                <a:ea typeface="Arial"/>
                <a:cs typeface="Arial"/>
              </a:defRPr>
            </a:pPr>
            <a:r>
              <a:t>The redesigned journey answers the right questions.</a:t>
            </a:r>
          </a:p>
        </p:txBody>
      </p:sp>
      <p:sp>
        <p:nvSpPr>
          <p:cNvPr id="3" name="s4-old-band">
            <a:extLst xmlns:a="http://schemas.openxmlformats.org/drawingml/2006/main">
              <a:ext uri="{FF2B5EF4-FFF2-40B4-BE49-F238E27FC236}">
                <a16:creationId xmlns:a16="http://schemas.microsoft.com/office/drawing/2014/main" id="{A79B8C54-FAA9-4FAE-864C-E847C8FC4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524000"/>
            <a:ext cx="112014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1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4-old-label">
            <a:extLst xmlns:a="http://schemas.openxmlformats.org/drawingml/2006/main">
              <a:ext uri="{FF2B5EF4-FFF2-40B4-BE49-F238E27FC236}">
                <a16:creationId xmlns:a16="http://schemas.microsoft.com/office/drawing/2014/main" id="{3AE66963-EF40-4054-A144-4B28C5D5C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24025"/>
            <a:ext cx="14287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t>OLD SEQUENCE</a:t>
            </a:r>
          </a:p>
        </p:txBody>
      </p:sp>
      <p:sp>
        <p:nvSpPr>
          <p:cNvPr id="5" name="s4-old-flow">
            <a:extLst xmlns:a="http://schemas.openxmlformats.org/drawingml/2006/main">
              <a:ext uri="{FF2B5EF4-FFF2-40B4-BE49-F238E27FC236}">
                <a16:creationId xmlns:a16="http://schemas.microsoft.com/office/drawing/2014/main" id="{9DEC643E-C93A-4F1D-8494-B1E4DE98C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1676400"/>
            <a:ext cx="85725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t>Generic hero  →  appointment form  →  repeated services  →  generic about</a:t>
            </a:r>
          </a:p>
        </p:txBody>
      </p:sp>
      <p:cxnSp>
        <p:nvCxnSpPr>
          <p:cNvPr id="29" name="s4-line"/>
          <p:cNvCxnSpPr/>
          <p:nvPr/>
        </p:nvCxnSpPr>
        <p:spPr>
          <a:xfrm xmlns:a="http://schemas.openxmlformats.org/drawingml/2006/main">
            <a:off x="495300" y="3333750"/>
            <a:ext cx="11201400" cy="9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02441"/>
            </a:solidFill>
            <a:prstDash val="solid"/>
          </a:ln>
        </p:spPr>
      </p:cxnSp>
      <p:sp>
        <p:nvSpPr>
          <p:cNvPr id="7" name="s4-dot-0">
            <a:extLst xmlns:a="http://schemas.openxmlformats.org/drawingml/2006/main">
              <a:ext uri="{FF2B5EF4-FFF2-40B4-BE49-F238E27FC236}">
                <a16:creationId xmlns:a16="http://schemas.microsoft.com/office/drawing/2014/main" id="{ECFBD870-A97A-42D2-9D51-09AE208BC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25755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45E7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s4-num-0">
            <a:extLst xmlns:a="http://schemas.openxmlformats.org/drawingml/2006/main">
              <a:ext uri="{FF2B5EF4-FFF2-40B4-BE49-F238E27FC236}">
                <a16:creationId xmlns:a16="http://schemas.microsoft.com/office/drawing/2014/main" id="{80C28DE6-EE23-4614-8565-0F9BFDE21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724150"/>
            <a:ext cx="7620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E45E76"/>
                </a:solidFill>
                <a:latin typeface="Arial"/>
                <a:ea typeface="Arial"/>
                <a:cs typeface="Arial"/>
              </a:defRPr>
            </a:pPr>
            <a:r>
              <a:t>01</a:t>
            </a:r>
          </a:p>
        </p:txBody>
      </p:sp>
      <p:sp>
        <p:nvSpPr>
          <p:cNvPr id="9" name="s4-title-0">
            <a:extLst xmlns:a="http://schemas.openxmlformats.org/drawingml/2006/main">
              <a:ext uri="{FF2B5EF4-FFF2-40B4-BE49-F238E27FC236}">
                <a16:creationId xmlns:a16="http://schemas.microsoft.com/office/drawing/2014/main" id="{34E004EE-A161-470E-8E6D-91B4A1C95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733800"/>
            <a:ext cx="314325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 i="0">
                <a:solidFill>
                  <a:srgbClr val="102441"/>
                </a:solidFill>
                <a:latin typeface="Arial"/>
                <a:ea typeface="Arial"/>
                <a:cs typeface="Arial"/>
              </a:defRPr>
            </a:pPr>
            <a:r>
              <a:t>Understand</a:t>
            </a:r>
          </a:p>
        </p:txBody>
      </p:sp>
      <p:sp>
        <p:nvSpPr>
          <p:cNvPr id="10" name="s4-copy-0">
            <a:extLst xmlns:a="http://schemas.openxmlformats.org/drawingml/2006/main">
              <a:ext uri="{FF2B5EF4-FFF2-40B4-BE49-F238E27FC236}">
                <a16:creationId xmlns:a16="http://schemas.microsoft.com/office/drawing/2014/main" id="{2E6262C5-4DA5-4D94-B85F-C882879D6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305300"/>
            <a:ext cx="3048000" cy="1104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t>A clear local promise, four care pathways, and plain-language explanations answer: “Can Rise help me?”</a:t>
            </a:r>
          </a:p>
        </p:txBody>
      </p:sp>
      <p:sp>
        <p:nvSpPr>
          <p:cNvPr id="11" name="s4-dot-1">
            <a:extLst xmlns:a="http://schemas.openxmlformats.org/drawingml/2006/main">
              <a:ext uri="{FF2B5EF4-FFF2-40B4-BE49-F238E27FC236}">
                <a16:creationId xmlns:a16="http://schemas.microsoft.com/office/drawing/2014/main" id="{DE74BF82-F0A9-44B9-AF42-96062347B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325755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45E7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s4-num-1">
            <a:extLst xmlns:a="http://schemas.openxmlformats.org/drawingml/2006/main">
              <a:ext uri="{FF2B5EF4-FFF2-40B4-BE49-F238E27FC236}">
                <a16:creationId xmlns:a16="http://schemas.microsoft.com/office/drawing/2014/main" id="{373DBF0E-5886-4E8E-B048-AFDAB556F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2724150"/>
            <a:ext cx="7620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E45E76"/>
                </a:solidFill>
                <a:latin typeface="Arial"/>
                <a:ea typeface="Arial"/>
                <a:cs typeface="Arial"/>
              </a:defRPr>
            </a:pPr>
            <a:r>
              <a:t>02</a:t>
            </a:r>
          </a:p>
        </p:txBody>
      </p:sp>
      <p:sp>
        <p:nvSpPr>
          <p:cNvPr id="13" name="s4-title-1">
            <a:extLst xmlns:a="http://schemas.openxmlformats.org/drawingml/2006/main">
              <a:ext uri="{FF2B5EF4-FFF2-40B4-BE49-F238E27FC236}">
                <a16:creationId xmlns:a16="http://schemas.microsoft.com/office/drawing/2014/main" id="{0D591FF6-5B53-459A-AD78-3B82D962D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3733800"/>
            <a:ext cx="314325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 i="0">
                <a:solidFill>
                  <a:srgbClr val="102441"/>
                </a:solidFill>
                <a:latin typeface="Arial"/>
                <a:ea typeface="Arial"/>
                <a:cs typeface="Arial"/>
              </a:defRPr>
            </a:pPr>
            <a:r>
              <a:t>Trust</a:t>
            </a:r>
          </a:p>
        </p:txBody>
      </p:sp>
      <p:sp>
        <p:nvSpPr>
          <p:cNvPr id="14" name="s4-copy-1">
            <a:extLst xmlns:a="http://schemas.openxmlformats.org/drawingml/2006/main">
              <a:ext uri="{FF2B5EF4-FFF2-40B4-BE49-F238E27FC236}">
                <a16:creationId xmlns:a16="http://schemas.microsoft.com/office/drawing/2014/main" id="{1CE8D974-0ABE-4796-AA7B-F3CA70BAE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4305300"/>
            <a:ext cx="3048000" cy="1104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t>Doctors, qualifications, evidence, suitability, limitations, and expectations answer: “Can I believe this?”</a:t>
            </a:r>
          </a:p>
        </p:txBody>
      </p:sp>
      <p:sp>
        <p:nvSpPr>
          <p:cNvPr id="15" name="s4-dot-2">
            <a:extLst xmlns:a="http://schemas.openxmlformats.org/drawingml/2006/main">
              <a:ext uri="{FF2B5EF4-FFF2-40B4-BE49-F238E27FC236}">
                <a16:creationId xmlns:a16="http://schemas.microsoft.com/office/drawing/2014/main" id="{12CD3959-ADB4-438C-8651-395438675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5755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45E7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s4-num-2">
            <a:extLst xmlns:a="http://schemas.openxmlformats.org/drawingml/2006/main">
              <a:ext uri="{FF2B5EF4-FFF2-40B4-BE49-F238E27FC236}">
                <a16:creationId xmlns:a16="http://schemas.microsoft.com/office/drawing/2014/main" id="{DF85818E-E7CF-4314-ADD5-8EA1A0EDD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24150"/>
            <a:ext cx="7620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E45E76"/>
                </a:solidFill>
                <a:latin typeface="Arial"/>
                <a:ea typeface="Arial"/>
                <a:cs typeface="Arial"/>
              </a:defRPr>
            </a:pPr>
            <a:r>
              <a:t>03</a:t>
            </a:r>
          </a:p>
        </p:txBody>
      </p:sp>
      <p:sp>
        <p:nvSpPr>
          <p:cNvPr id="17" name="s4-title-2">
            <a:extLst xmlns:a="http://schemas.openxmlformats.org/drawingml/2006/main">
              <a:ext uri="{FF2B5EF4-FFF2-40B4-BE49-F238E27FC236}">
                <a16:creationId xmlns:a16="http://schemas.microsoft.com/office/drawing/2014/main" id="{E7DFA5E1-3D17-4DCC-89E8-E68268E3B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733800"/>
            <a:ext cx="314325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 i="0">
                <a:solidFill>
                  <a:srgbClr val="102441"/>
                </a:solidFill>
                <a:latin typeface="Arial"/>
                <a:ea typeface="Arial"/>
                <a:cs typeface="Arial"/>
              </a:defRPr>
            </a:pPr>
            <a:r>
              <a:t>Act</a:t>
            </a:r>
          </a:p>
        </p:txBody>
      </p:sp>
      <p:sp>
        <p:nvSpPr>
          <p:cNvPr id="18" name="s4-copy-2">
            <a:extLst xmlns:a="http://schemas.openxmlformats.org/drawingml/2006/main">
              <a:ext uri="{FF2B5EF4-FFF2-40B4-BE49-F238E27FC236}">
                <a16:creationId xmlns:a16="http://schemas.microsoft.com/office/drawing/2014/main" id="{732C95CD-7FF1-49EB-B321-FA688B99D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305300"/>
            <a:ext cx="3048000" cy="1104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t>Phone, WhatsApp, directions, urgent guidance, and a transparent booking handoff answer: “What do I do next?”</a:t>
            </a:r>
          </a:p>
        </p:txBody>
      </p:sp>
      <p:sp>
        <p:nvSpPr>
          <p:cNvPr id="19" name="s4-close">
            <a:extLst xmlns:a="http://schemas.openxmlformats.org/drawingml/2006/main">
              <a:ext uri="{FF2B5EF4-FFF2-40B4-BE49-F238E27FC236}">
                <a16:creationId xmlns:a16="http://schemas.microsoft.com/office/drawing/2014/main" id="{87D8A5F7-CDAF-4806-A836-3D4AB8977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715000"/>
            <a:ext cx="104775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102441"/>
                </a:solidFill>
                <a:latin typeface="Arial"/>
                <a:ea typeface="Arial"/>
                <a:cs typeface="Arial"/>
              </a:defRPr>
            </a:pPr>
            <a:r>
              <a:t>The patient moves from uncertainty to a clear next step—without being rushed into a form.</a:t>
            </a:r>
          </a:p>
        </p:txBody>
      </p:sp>
      <p:cxnSp>
        <p:nvCxnSpPr>
          <p:cNvPr id="43" name="footer-rule-4"/>
          <p:cNvCxnSpPr/>
          <p:nvPr/>
        </p:nvCxnSpPr>
        <p:spPr>
          <a:xfrm xmlns:a="http://schemas.openxmlformats.org/drawingml/2006/main">
            <a:off x="495300" y="6305550"/>
            <a:ext cx="11201400" cy="9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6CDD6"/>
            </a:solidFill>
            <a:prstDash val="solid"/>
          </a:ln>
        </p:spPr>
      </p:cxnSp>
      <p:sp>
        <p:nvSpPr>
          <p:cNvPr id="21" name="footer-left-4">
            <a:extLst xmlns:a="http://schemas.openxmlformats.org/drawingml/2006/main">
              <a:ext uri="{FF2B5EF4-FFF2-40B4-BE49-F238E27FC236}">
                <a16:creationId xmlns:a16="http://schemas.microsoft.com/office/drawing/2014/main" id="{373CE25F-3E69-4366-A1EE-E11D6D58A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19850"/>
            <a:ext cx="40005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t>RISE MEDICAL HUB · WEBSITE DECISION</a:t>
            </a:r>
          </a:p>
        </p:txBody>
      </p:sp>
      <p:sp>
        <p:nvSpPr>
          <p:cNvPr id="22" name="footer-no-4">
            <a:extLst xmlns:a="http://schemas.openxmlformats.org/drawingml/2006/main">
              <a:ext uri="{FF2B5EF4-FFF2-40B4-BE49-F238E27FC236}">
                <a16:creationId xmlns:a16="http://schemas.microsoft.com/office/drawing/2014/main" id="{D3FEA910-E8C6-48B2-B6DB-7EE21FFB1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419850"/>
            <a:ext cx="4762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t>04</a:t>
            </a:r>
          </a:p>
        </p:txBody>
      </p:sp>
      <p:sp>
        <p:nvSpPr>
          <p:cNvPr id="23" name="source-4">
            <a:extLst xmlns:a="http://schemas.openxmlformats.org/drawingml/2006/main">
              <a:ext uri="{FF2B5EF4-FFF2-40B4-BE49-F238E27FC236}">
                <a16:creationId xmlns:a16="http://schemas.microsoft.com/office/drawing/2014/main" id="{D409E5D4-CA60-41C9-BFB3-8E7A2B07F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6419850"/>
            <a:ext cx="59055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0" i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t>Source: redesigned staging site</a:t>
            </a:r>
          </a:p>
        </p:txBody>
      </p:sp>
    </p:spTree>
    <p:extLst>
      <p:ext uri="{BB962C8B-B14F-4D97-AF65-F5344CB8AC3E}">
        <p14:creationId xmlns:p14="http://schemas.microsoft.com/office/powerpoint/2010/main" val="165605500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010444323ff4c8d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515100" y="1809750"/>
            <a:ext cx="5181600" cy="3238500"/>
          </a:xfrm>
          <a:prstGeom xmlns:a="http://schemas.openxmlformats.org/drawingml/2006/main" prst="roundRect">
            <a:avLst>
              <a:gd name="adj" fmla="val 3529"/>
            </a:avLst>
          </a:prstGeom>
        </p:spPr>
      </p:pic>
      <p:sp>
        <p:nvSpPr>
          <p:cNvPr id="2" name="s5-eyebrow">
            <a:extLst xmlns:a="http://schemas.openxmlformats.org/drawingml/2006/main">
              <a:ext uri="{FF2B5EF4-FFF2-40B4-BE49-F238E27FC236}">
                <a16:creationId xmlns:a16="http://schemas.microsoft.com/office/drawing/2014/main" id="{543E00F9-A9D8-4FA0-BAD0-64E8E74AB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61950"/>
            <a:ext cx="24765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E45E76"/>
                </a:solidFill>
                <a:latin typeface="Arial"/>
                <a:ea typeface="Arial"/>
                <a:cs typeface="Arial"/>
              </a:defRPr>
            </a:pPr>
            <a:r>
              <a:t>SIGNATURE CARE</a:t>
            </a:r>
          </a:p>
        </p:txBody>
      </p:sp>
      <p:sp>
        <p:nvSpPr>
          <p:cNvPr id="3" name="s5-title">
            <a:extLst xmlns:a="http://schemas.openxmlformats.org/drawingml/2006/main">
              <a:ext uri="{FF2B5EF4-FFF2-40B4-BE49-F238E27FC236}">
                <a16:creationId xmlns:a16="http://schemas.microsoft.com/office/drawing/2014/main" id="{61BBFA5F-35C0-4B58-AE74-837E76793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723900"/>
            <a:ext cx="112014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 i="0">
                <a:solidFill>
                  <a:srgbClr val="102441"/>
                </a:solidFill>
                <a:latin typeface="Arial"/>
                <a:ea typeface="Arial"/>
                <a:cs typeface="Arial"/>
              </a:defRPr>
            </a:pPr>
            <a:r>
              <a:t>EECP becomes a care pathway—not a claim.</a:t>
            </a:r>
          </a:p>
        </p:txBody>
      </p:sp>
      <p:sp>
        <p:nvSpPr>
          <p:cNvPr id="4" name="s5-old-label">
            <a:extLst xmlns:a="http://schemas.openxmlformats.org/drawingml/2006/main">
              <a:ext uri="{FF2B5EF4-FFF2-40B4-BE49-F238E27FC236}">
                <a16:creationId xmlns:a16="http://schemas.microsoft.com/office/drawing/2014/main" id="{F36626D4-1FB7-4E63-A437-91D2B42F3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619250"/>
            <a:ext cx="1714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B93C55"/>
                </a:solidFill>
                <a:latin typeface="Arial"/>
                <a:ea typeface="Arial"/>
                <a:cs typeface="Arial"/>
              </a:defRPr>
            </a:pPr>
            <a:r>
              <a:t>CURRENT SITE</a:t>
            </a:r>
          </a:p>
        </p:txBody>
      </p:sp>
      <p:sp>
        <p:nvSpPr>
          <p:cNvPr id="5" name="s5-old">
            <a:extLst xmlns:a="http://schemas.openxmlformats.org/drawingml/2006/main">
              <a:ext uri="{FF2B5EF4-FFF2-40B4-BE49-F238E27FC236}">
                <a16:creationId xmlns:a16="http://schemas.microsoft.com/office/drawing/2014/main" id="{718D5A7F-0DC1-4662-890A-A58D91DE7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962150"/>
            <a:ext cx="5334000" cy="60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B93C55"/>
                </a:solidFill>
                <a:latin typeface="Arial"/>
                <a:ea typeface="Arial"/>
                <a:cs typeface="Arial"/>
              </a:defRPr>
            </a:pPr>
            <a:r>
              <a:t>“Safe” · “improves heart function” · “no downtime”</a:t>
            </a:r>
          </a:p>
        </p:txBody>
      </p:sp>
      <p:sp>
        <p:nvSpPr>
          <p:cNvPr id="6" name="s5-old-copy">
            <a:extLst xmlns:a="http://schemas.openxmlformats.org/drawingml/2006/main">
              <a:ext uri="{FF2B5EF4-FFF2-40B4-BE49-F238E27FC236}">
                <a16:creationId xmlns:a16="http://schemas.microsoft.com/office/drawing/2014/main" id="{915B9F33-469B-4665-8412-B57972E27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647950"/>
            <a:ext cx="5334000" cy="742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t>Benefits are presented without enough context about selection, contraindications, limits, or evidence.</a:t>
            </a:r>
          </a:p>
        </p:txBody>
      </p:sp>
      <p:cxnSp>
        <p:nvCxnSpPr>
          <p:cNvPr id="21" name="s5-rule"/>
          <p:cNvCxnSpPr/>
          <p:nvPr/>
        </p:nvCxnSpPr>
        <p:spPr>
          <a:xfrm xmlns:a="http://schemas.openxmlformats.org/drawingml/2006/main">
            <a:off x="495300" y="3619500"/>
            <a:ext cx="5334000" cy="9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6CDD6"/>
            </a:solidFill>
            <a:prstDash val="solid"/>
          </a:ln>
        </p:spPr>
      </p:cxnSp>
      <p:sp>
        <p:nvSpPr>
          <p:cNvPr id="8" name="s5-new-label">
            <a:extLst xmlns:a="http://schemas.openxmlformats.org/drawingml/2006/main">
              <a:ext uri="{FF2B5EF4-FFF2-40B4-BE49-F238E27FC236}">
                <a16:creationId xmlns:a16="http://schemas.microsoft.com/office/drawing/2014/main" id="{F14DFEC7-0157-4F40-BE81-009AA3FAA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886200"/>
            <a:ext cx="2476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102441"/>
                </a:solidFill>
                <a:latin typeface="Arial"/>
                <a:ea typeface="Arial"/>
                <a:cs typeface="Arial"/>
              </a:defRPr>
            </a:pPr>
            <a:r>
              <a:t>REDESIGNED EXPERIENCE</a:t>
            </a:r>
          </a:p>
        </p:txBody>
      </p:sp>
      <p:sp>
        <p:nvSpPr>
          <p:cNvPr id="9" name="s5-new">
            <a:extLst xmlns:a="http://schemas.openxmlformats.org/drawingml/2006/main">
              <a:ext uri="{FF2B5EF4-FFF2-40B4-BE49-F238E27FC236}">
                <a16:creationId xmlns:a16="http://schemas.microsoft.com/office/drawing/2014/main" id="{D9AC603D-D681-4655-95D6-5D2D5521C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257675"/>
            <a:ext cx="5334000" cy="838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102441"/>
                </a:solidFill>
                <a:latin typeface="Arial"/>
                <a:ea typeface="Arial"/>
                <a:cs typeface="Arial"/>
              </a:defRPr>
            </a:pPr>
            <a:r>
              <a:t>Selected patient · monitored session · benefits and limits · other options · evidence</a:t>
            </a:r>
          </a:p>
        </p:txBody>
      </p:sp>
      <p:sp>
        <p:nvSpPr>
          <p:cNvPr id="10" name="s5-new-copy">
            <a:extLst xmlns:a="http://schemas.openxmlformats.org/drawingml/2006/main">
              <a:ext uri="{FF2B5EF4-FFF2-40B4-BE49-F238E27FC236}">
                <a16:creationId xmlns:a16="http://schemas.microsoft.com/office/drawing/2014/main" id="{AA68A90E-AA53-4678-942D-79FA94AE9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219700"/>
            <a:ext cx="5334000" cy="704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t>The animation explains cuff timing while the copy protects clinical credibility and directs urgent symptoms away from booking.</a:t>
            </a:r>
          </a:p>
        </p:txBody>
      </p:sp>
      <p:cxnSp>
        <p:nvCxnSpPr>
          <p:cNvPr id="25" name="footer-rule-5"/>
          <p:cNvCxnSpPr/>
          <p:nvPr/>
        </p:nvCxnSpPr>
        <p:spPr>
          <a:xfrm xmlns:a="http://schemas.openxmlformats.org/drawingml/2006/main">
            <a:off x="495300" y="6305550"/>
            <a:ext cx="11201400" cy="9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6CDD6"/>
            </a:solidFill>
            <a:prstDash val="solid"/>
          </a:ln>
        </p:spPr>
      </p:cxnSp>
      <p:sp>
        <p:nvSpPr>
          <p:cNvPr id="12" name="footer-left-5">
            <a:extLst xmlns:a="http://schemas.openxmlformats.org/drawingml/2006/main">
              <a:ext uri="{FF2B5EF4-FFF2-40B4-BE49-F238E27FC236}">
                <a16:creationId xmlns:a16="http://schemas.microsoft.com/office/drawing/2014/main" id="{96191F6C-DF07-41BF-8AA1-7D4417299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19850"/>
            <a:ext cx="40005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t>RISE MEDICAL HUB · WEBSITE DECISION</a:t>
            </a:r>
          </a:p>
        </p:txBody>
      </p:sp>
      <p:sp>
        <p:nvSpPr>
          <p:cNvPr id="13" name="footer-no-5">
            <a:extLst xmlns:a="http://schemas.openxmlformats.org/drawingml/2006/main">
              <a:ext uri="{FF2B5EF4-FFF2-40B4-BE49-F238E27FC236}">
                <a16:creationId xmlns:a16="http://schemas.microsoft.com/office/drawing/2014/main" id="{193FD829-EB93-4A24-9028-807CA0AC1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419850"/>
            <a:ext cx="4762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t>05</a:t>
            </a:r>
          </a:p>
        </p:txBody>
      </p:sp>
      <p:sp>
        <p:nvSpPr>
          <p:cNvPr id="14" name="source-5">
            <a:extLst xmlns:a="http://schemas.openxmlformats.org/drawingml/2006/main">
              <a:ext uri="{FF2B5EF4-FFF2-40B4-BE49-F238E27FC236}">
                <a16:creationId xmlns:a16="http://schemas.microsoft.com/office/drawing/2014/main" id="{1CE409EC-2A47-45A0-9CBC-9348BC187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6419850"/>
            <a:ext cx="59055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0" i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t>Source: current EECP page + redesigned EECP staging page</a:t>
            </a:r>
          </a:p>
        </p:txBody>
      </p:sp>
    </p:spTree>
    <p:extLst>
      <p:ext uri="{BB962C8B-B14F-4D97-AF65-F5344CB8AC3E}">
        <p14:creationId xmlns:p14="http://schemas.microsoft.com/office/powerpoint/2010/main" val="28758927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s6-eyebrow">
            <a:extLst xmlns:a="http://schemas.openxmlformats.org/drawingml/2006/main">
              <a:ext uri="{FF2B5EF4-FFF2-40B4-BE49-F238E27FC236}">
                <a16:creationId xmlns:a16="http://schemas.microsoft.com/office/drawing/2014/main" id="{9114E261-8701-4453-AC61-EAAC0E27E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61950"/>
            <a:ext cx="3048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E45E76"/>
                </a:solidFill>
                <a:latin typeface="Arial"/>
                <a:ea typeface="Arial"/>
                <a:cs typeface="Arial"/>
              </a:defRPr>
            </a:pPr>
            <a:r>
              <a:t>TRUST ARCHITECTURE</a:t>
            </a:r>
          </a:p>
        </p:txBody>
      </p:sp>
      <p:sp>
        <p:nvSpPr>
          <p:cNvPr id="2" name="s6-title">
            <a:extLst xmlns:a="http://schemas.openxmlformats.org/drawingml/2006/main">
              <a:ext uri="{FF2B5EF4-FFF2-40B4-BE49-F238E27FC236}">
                <a16:creationId xmlns:a16="http://schemas.microsoft.com/office/drawing/2014/main" id="{332894A4-15D1-4B78-9747-E5F5DA2FC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723900"/>
            <a:ext cx="112014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 i="0">
                <a:solidFill>
                  <a:srgbClr val="102441"/>
                </a:solidFill>
                <a:latin typeface="Arial"/>
                <a:ea typeface="Arial"/>
                <a:cs typeface="Arial"/>
              </a:defRPr>
            </a:pPr>
            <a:r>
              <a:t>Trust is built before the appointment.</a:t>
            </a:r>
          </a:p>
        </p:txBody>
      </p:sp>
      <p:sp>
        <p:nvSpPr>
          <p:cNvPr id="3" name="s6-intro">
            <a:extLst xmlns:a="http://schemas.openxmlformats.org/drawingml/2006/main">
              <a:ext uri="{FF2B5EF4-FFF2-40B4-BE49-F238E27FC236}">
                <a16:creationId xmlns:a16="http://schemas.microsoft.com/office/drawing/2014/main" id="{F7865895-DF58-4C01-8F3F-17D90E36E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381125"/>
            <a:ext cx="1000125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t>The redesign gives patients four independent reasons to believe the clinic will be clear, credible, and reachable.</a:t>
            </a:r>
          </a:p>
        </p:txBody>
      </p:sp>
      <p:cxnSp>
        <p:nvCxnSpPr>
          <p:cNvPr id="27" name="s6-top-0"/>
          <p:cNvCxnSpPr/>
          <p:nvPr/>
        </p:nvCxnSpPr>
        <p:spPr>
          <a:xfrm xmlns:a="http://schemas.openxmlformats.org/drawingml/2006/main">
            <a:off x="495300" y="2000250"/>
            <a:ext cx="5143500" cy="95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E45E76"/>
            </a:solidFill>
            <a:prstDash val="solid"/>
          </a:ln>
        </p:spPr>
      </p:cxnSp>
      <p:sp>
        <p:nvSpPr>
          <p:cNvPr id="5" name="s6-num-0">
            <a:extLst xmlns:a="http://schemas.openxmlformats.org/drawingml/2006/main">
              <a:ext uri="{FF2B5EF4-FFF2-40B4-BE49-F238E27FC236}">
                <a16:creationId xmlns:a16="http://schemas.microsoft.com/office/drawing/2014/main" id="{992A978B-94F7-451A-964B-52E12E834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190750"/>
            <a:ext cx="6667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E45E76"/>
                </a:solidFill>
                <a:latin typeface="Arial"/>
                <a:ea typeface="Arial"/>
                <a:cs typeface="Arial"/>
              </a:defRPr>
            </a:pPr>
            <a:r>
              <a:t>01</a:t>
            </a:r>
          </a:p>
        </p:txBody>
      </p:sp>
      <p:sp>
        <p:nvSpPr>
          <p:cNvPr id="6" name="s6-title-0">
            <a:extLst xmlns:a="http://schemas.openxmlformats.org/drawingml/2006/main">
              <a:ext uri="{FF2B5EF4-FFF2-40B4-BE49-F238E27FC236}">
                <a16:creationId xmlns:a16="http://schemas.microsoft.com/office/drawing/2014/main" id="{A2C2BF0F-168A-41C2-B270-0A79761AA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152650"/>
            <a:ext cx="400050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 i="0">
                <a:solidFill>
                  <a:srgbClr val="102441"/>
                </a:solidFill>
                <a:latin typeface="Arial"/>
                <a:ea typeface="Arial"/>
                <a:cs typeface="Arial"/>
              </a:defRPr>
            </a:pPr>
            <a:r>
              <a:t>People</a:t>
            </a:r>
          </a:p>
        </p:txBody>
      </p:sp>
      <p:sp>
        <p:nvSpPr>
          <p:cNvPr id="7" name="s6-copy-0">
            <a:extLst xmlns:a="http://schemas.openxmlformats.org/drawingml/2006/main">
              <a:ext uri="{FF2B5EF4-FFF2-40B4-BE49-F238E27FC236}">
                <a16:creationId xmlns:a16="http://schemas.microsoft.com/office/drawing/2014/main" id="{7766649E-6315-403C-AA57-2CAE55496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686050"/>
            <a:ext cx="4095750" cy="838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t>A 16-specialist directory makes qualifications, departments, and the right first consultation visible.</a:t>
            </a:r>
          </a:p>
        </p:txBody>
      </p:sp>
      <p:cxnSp>
        <p:nvCxnSpPr>
          <p:cNvPr id="31" name="s6-top-1"/>
          <p:cNvCxnSpPr/>
          <p:nvPr/>
        </p:nvCxnSpPr>
        <p:spPr>
          <a:xfrm xmlns:a="http://schemas.openxmlformats.org/drawingml/2006/main">
            <a:off x="6191250" y="2000250"/>
            <a:ext cx="5143500" cy="9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6CDD6"/>
            </a:solidFill>
            <a:prstDash val="solid"/>
          </a:ln>
        </p:spPr>
      </p:cxnSp>
      <p:sp>
        <p:nvSpPr>
          <p:cNvPr id="9" name="s6-num-1">
            <a:extLst xmlns:a="http://schemas.openxmlformats.org/drawingml/2006/main">
              <a:ext uri="{FF2B5EF4-FFF2-40B4-BE49-F238E27FC236}">
                <a16:creationId xmlns:a16="http://schemas.microsoft.com/office/drawing/2014/main" id="{6FB3FCC5-E297-4EEB-9870-77A523317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190750"/>
            <a:ext cx="6667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E45E76"/>
                </a:solidFill>
                <a:latin typeface="Arial"/>
                <a:ea typeface="Arial"/>
                <a:cs typeface="Arial"/>
              </a:defRPr>
            </a:pPr>
            <a:r>
              <a:t>02</a:t>
            </a:r>
          </a:p>
        </p:txBody>
      </p:sp>
      <p:sp>
        <p:nvSpPr>
          <p:cNvPr id="10" name="s6-title-1">
            <a:extLst xmlns:a="http://schemas.openxmlformats.org/drawingml/2006/main">
              <a:ext uri="{FF2B5EF4-FFF2-40B4-BE49-F238E27FC236}">
                <a16:creationId xmlns:a16="http://schemas.microsoft.com/office/drawing/2014/main" id="{E0653687-33A3-4EB4-A86C-D0B71AA06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152650"/>
            <a:ext cx="400050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 i="0">
                <a:solidFill>
                  <a:srgbClr val="102441"/>
                </a:solidFill>
                <a:latin typeface="Arial"/>
                <a:ea typeface="Arial"/>
                <a:cs typeface="Arial"/>
              </a:defRPr>
            </a:pPr>
            <a:r>
              <a:t>Evidence</a:t>
            </a:r>
          </a:p>
        </p:txBody>
      </p:sp>
      <p:sp>
        <p:nvSpPr>
          <p:cNvPr id="11" name="s6-copy-1">
            <a:extLst xmlns:a="http://schemas.openxmlformats.org/drawingml/2006/main">
              <a:ext uri="{FF2B5EF4-FFF2-40B4-BE49-F238E27FC236}">
                <a16:creationId xmlns:a16="http://schemas.microsoft.com/office/drawing/2014/main" id="{15212E96-8F23-4148-BEA9-DAA9CF8E0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686050"/>
            <a:ext cx="4095750" cy="838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t>Heart and EECP content links patients to guidelines, trials, warning signs, and clear limitations.</a:t>
            </a:r>
          </a:p>
        </p:txBody>
      </p:sp>
      <p:cxnSp>
        <p:nvCxnSpPr>
          <p:cNvPr id="35" name="s6-top-2"/>
          <p:cNvCxnSpPr/>
          <p:nvPr/>
        </p:nvCxnSpPr>
        <p:spPr>
          <a:xfrm xmlns:a="http://schemas.openxmlformats.org/drawingml/2006/main">
            <a:off x="495300" y="4000500"/>
            <a:ext cx="5143500" cy="9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6CDD6"/>
            </a:solidFill>
            <a:prstDash val="solid"/>
          </a:ln>
        </p:spPr>
      </p:cxnSp>
      <p:sp>
        <p:nvSpPr>
          <p:cNvPr id="13" name="s6-num-2">
            <a:extLst xmlns:a="http://schemas.openxmlformats.org/drawingml/2006/main">
              <a:ext uri="{FF2B5EF4-FFF2-40B4-BE49-F238E27FC236}">
                <a16:creationId xmlns:a16="http://schemas.microsoft.com/office/drawing/2014/main" id="{E6F3EF98-AFC6-4A20-A1DA-F9BCE0819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191000"/>
            <a:ext cx="6667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E45E76"/>
                </a:solidFill>
                <a:latin typeface="Arial"/>
                <a:ea typeface="Arial"/>
                <a:cs typeface="Arial"/>
              </a:defRPr>
            </a:pPr>
            <a:r>
              <a:t>03</a:t>
            </a:r>
          </a:p>
        </p:txBody>
      </p:sp>
      <p:sp>
        <p:nvSpPr>
          <p:cNvPr id="14" name="s6-title-2">
            <a:extLst xmlns:a="http://schemas.openxmlformats.org/drawingml/2006/main">
              <a:ext uri="{FF2B5EF4-FFF2-40B4-BE49-F238E27FC236}">
                <a16:creationId xmlns:a16="http://schemas.microsoft.com/office/drawing/2014/main" id="{242361F7-A074-4D2A-B0E5-21C7CAC3A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152900"/>
            <a:ext cx="400050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 i="0">
                <a:solidFill>
                  <a:srgbClr val="102441"/>
                </a:solidFill>
                <a:latin typeface="Arial"/>
                <a:ea typeface="Arial"/>
                <a:cs typeface="Arial"/>
              </a:defRPr>
            </a:pPr>
            <a:r>
              <a:t>Place</a:t>
            </a:r>
          </a:p>
        </p:txBody>
      </p:sp>
      <p:sp>
        <p:nvSpPr>
          <p:cNvPr id="15" name="s6-copy-2">
            <a:extLst xmlns:a="http://schemas.openxmlformats.org/drawingml/2006/main">
              <a:ext uri="{FF2B5EF4-FFF2-40B4-BE49-F238E27FC236}">
                <a16:creationId xmlns:a16="http://schemas.microsoft.com/office/drawing/2014/main" id="{DB9E111F-D65F-4DFF-8EEF-6F1DBB627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686300"/>
            <a:ext cx="4095750" cy="838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t>Madhurawada, Visakhapatnam, phone, directions, and emergency access are present throughout the journey.</a:t>
            </a:r>
          </a:p>
        </p:txBody>
      </p:sp>
      <p:cxnSp>
        <p:nvCxnSpPr>
          <p:cNvPr id="39" name="s6-top-3"/>
          <p:cNvCxnSpPr/>
          <p:nvPr/>
        </p:nvCxnSpPr>
        <p:spPr>
          <a:xfrm xmlns:a="http://schemas.openxmlformats.org/drawingml/2006/main">
            <a:off x="6191250" y="4000500"/>
            <a:ext cx="5143500" cy="9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6CDD6"/>
            </a:solidFill>
            <a:prstDash val="solid"/>
          </a:ln>
        </p:spPr>
      </p:cxnSp>
      <p:sp>
        <p:nvSpPr>
          <p:cNvPr id="17" name="s6-num-3">
            <a:extLst xmlns:a="http://schemas.openxmlformats.org/drawingml/2006/main">
              <a:ext uri="{FF2B5EF4-FFF2-40B4-BE49-F238E27FC236}">
                <a16:creationId xmlns:a16="http://schemas.microsoft.com/office/drawing/2014/main" id="{2EFAF1A0-84AF-47C3-B6CE-67176FE86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191000"/>
            <a:ext cx="6667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E45E76"/>
                </a:solidFill>
                <a:latin typeface="Arial"/>
                <a:ea typeface="Arial"/>
                <a:cs typeface="Arial"/>
              </a:defRPr>
            </a:pPr>
            <a:r>
              <a:t>04</a:t>
            </a:r>
          </a:p>
        </p:txBody>
      </p:sp>
      <p:sp>
        <p:nvSpPr>
          <p:cNvPr id="18" name="s6-title-3">
            <a:extLst xmlns:a="http://schemas.openxmlformats.org/drawingml/2006/main">
              <a:ext uri="{FF2B5EF4-FFF2-40B4-BE49-F238E27FC236}">
                <a16:creationId xmlns:a16="http://schemas.microsoft.com/office/drawing/2014/main" id="{43110903-6B30-48AD-8744-8B6DF11F7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4152900"/>
            <a:ext cx="400050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 i="0">
                <a:solidFill>
                  <a:srgbClr val="102441"/>
                </a:solidFill>
                <a:latin typeface="Arial"/>
                <a:ea typeface="Arial"/>
                <a:cs typeface="Arial"/>
              </a:defRPr>
            </a:pPr>
            <a:r>
              <a:t>Process</a:t>
            </a:r>
          </a:p>
        </p:txBody>
      </p:sp>
      <p:sp>
        <p:nvSpPr>
          <p:cNvPr id="19" name="s6-copy-3">
            <a:extLst xmlns:a="http://schemas.openxmlformats.org/drawingml/2006/main">
              <a:ext uri="{FF2B5EF4-FFF2-40B4-BE49-F238E27FC236}">
                <a16:creationId xmlns:a16="http://schemas.microsoft.com/office/drawing/2014/main" id="{73731F89-045C-4680-81D0-25E8C9C58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4686300"/>
            <a:ext cx="4095750" cy="838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t>The booking form states exactly what happens: WhatsApp opens, the patient reviews, and nothing is sent until they press send.</a:t>
            </a:r>
          </a:p>
        </p:txBody>
      </p:sp>
      <p:cxnSp>
        <p:nvCxnSpPr>
          <p:cNvPr id="43" name="footer-rule-6"/>
          <p:cNvCxnSpPr/>
          <p:nvPr/>
        </p:nvCxnSpPr>
        <p:spPr>
          <a:xfrm xmlns:a="http://schemas.openxmlformats.org/drawingml/2006/main">
            <a:off x="495300" y="6305550"/>
            <a:ext cx="11201400" cy="9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6CDD6"/>
            </a:solidFill>
            <a:prstDash val="solid"/>
          </a:ln>
        </p:spPr>
      </p:cxnSp>
      <p:sp>
        <p:nvSpPr>
          <p:cNvPr id="21" name="footer-left-6">
            <a:extLst xmlns:a="http://schemas.openxmlformats.org/drawingml/2006/main">
              <a:ext uri="{FF2B5EF4-FFF2-40B4-BE49-F238E27FC236}">
                <a16:creationId xmlns:a16="http://schemas.microsoft.com/office/drawing/2014/main" id="{A2A521D1-8120-4E39-8830-349CA3C22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19850"/>
            <a:ext cx="40005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t>RISE MEDICAL HUB · WEBSITE DECISION</a:t>
            </a:r>
          </a:p>
        </p:txBody>
      </p:sp>
      <p:sp>
        <p:nvSpPr>
          <p:cNvPr id="22" name="footer-no-6">
            <a:extLst xmlns:a="http://schemas.openxmlformats.org/drawingml/2006/main">
              <a:ext uri="{FF2B5EF4-FFF2-40B4-BE49-F238E27FC236}">
                <a16:creationId xmlns:a16="http://schemas.microsoft.com/office/drawing/2014/main" id="{E5922E68-CA18-4AD4-A2CF-3713517BB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419850"/>
            <a:ext cx="4762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t>06</a:t>
            </a:r>
          </a:p>
        </p:txBody>
      </p:sp>
      <p:sp>
        <p:nvSpPr>
          <p:cNvPr id="23" name="source-6">
            <a:extLst xmlns:a="http://schemas.openxmlformats.org/drawingml/2006/main">
              <a:ext uri="{FF2B5EF4-FFF2-40B4-BE49-F238E27FC236}">
                <a16:creationId xmlns:a16="http://schemas.microsoft.com/office/drawing/2014/main" id="{FC3FADFA-6A96-4C9D-8C96-A12629E57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6419850"/>
            <a:ext cx="59055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0" i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t>Source: redesigned homepage, doctors, resources and appointment pages</a:t>
            </a:r>
          </a:p>
        </p:txBody>
      </p:sp>
    </p:spTree>
    <p:extLst>
      <p:ext uri="{BB962C8B-B14F-4D97-AF65-F5344CB8AC3E}">
        <p14:creationId xmlns:p14="http://schemas.microsoft.com/office/powerpoint/2010/main" val="185194809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s7-eyebrow">
            <a:extLst xmlns:a="http://schemas.openxmlformats.org/drawingml/2006/main">
              <a:ext uri="{FF2B5EF4-FFF2-40B4-BE49-F238E27FC236}">
                <a16:creationId xmlns:a16="http://schemas.microsoft.com/office/drawing/2014/main" id="{BFC0A16B-BBBA-4908-9D7E-07283D2ED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61950"/>
            <a:ext cx="24765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E45E76"/>
                </a:solidFill>
                <a:latin typeface="Arial"/>
                <a:ea typeface="Arial"/>
                <a:cs typeface="Arial"/>
              </a:defRPr>
            </a:pPr>
            <a:r>
              <a:t>SEARCH VISIBILITY</a:t>
            </a:r>
          </a:p>
        </p:txBody>
      </p:sp>
      <p:sp>
        <p:nvSpPr>
          <p:cNvPr id="2" name="s7-title">
            <a:extLst xmlns:a="http://schemas.openxmlformats.org/drawingml/2006/main">
              <a:ext uri="{FF2B5EF4-FFF2-40B4-BE49-F238E27FC236}">
                <a16:creationId xmlns:a16="http://schemas.microsoft.com/office/drawing/2014/main" id="{8D1AFCE8-817E-4011-8530-A4F1A786E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723900"/>
            <a:ext cx="112014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 i="0">
                <a:solidFill>
                  <a:srgbClr val="102441"/>
                </a:solidFill>
                <a:latin typeface="Arial"/>
                <a:ea typeface="Arial"/>
                <a:cs typeface="Arial"/>
              </a:defRPr>
            </a:pPr>
            <a:r>
              <a:t>The redesign is SEO-ready. The migration is not.</a:t>
            </a:r>
          </a:p>
        </p:txBody>
      </p:sp>
      <p:sp>
        <p:nvSpPr>
          <p:cNvPr id="3" name="s7-intro">
            <a:extLst xmlns:a="http://schemas.openxmlformats.org/drawingml/2006/main">
              <a:ext uri="{FF2B5EF4-FFF2-40B4-BE49-F238E27FC236}">
                <a16:creationId xmlns:a16="http://schemas.microsoft.com/office/drawing/2014/main" id="{B4BAAEA0-4848-43F6-9969-7C146E0A6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381125"/>
            <a:ext cx="106680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t>The new architecture gives search engines clearer subjects and local relevance. Without redirects and canonicals, existing value can still be lost at launch.</a:t>
            </a:r>
          </a:p>
        </p:txBody>
      </p:sp>
      <p:sp>
        <p:nvSpPr>
          <p:cNvPr id="4" name="s7-old-panel">
            <a:extLst xmlns:a="http://schemas.openxmlformats.org/drawingml/2006/main">
              <a:ext uri="{FF2B5EF4-FFF2-40B4-BE49-F238E27FC236}">
                <a16:creationId xmlns:a16="http://schemas.microsoft.com/office/drawing/2014/main" id="{90B12B9D-E6A4-4D0D-B370-2DCC57121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333625"/>
            <a:ext cx="5257800" cy="2333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1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s7-old-label">
            <a:extLst xmlns:a="http://schemas.openxmlformats.org/drawingml/2006/main">
              <a:ext uri="{FF2B5EF4-FFF2-40B4-BE49-F238E27FC236}">
                <a16:creationId xmlns:a16="http://schemas.microsoft.com/office/drawing/2014/main" id="{B1DF17C5-31FC-4A19-94BF-6BB3A40A0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590800"/>
            <a:ext cx="1333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B93C55"/>
                </a:solidFill>
                <a:latin typeface="Arial"/>
                <a:ea typeface="Arial"/>
                <a:cs typeface="Arial"/>
              </a:defRPr>
            </a:pPr>
            <a:r>
              <a:t>CURRENT</a:t>
            </a:r>
          </a:p>
        </p:txBody>
      </p:sp>
      <p:sp>
        <p:nvSpPr>
          <p:cNvPr id="6" name="s7-old-copy">
            <a:extLst xmlns:a="http://schemas.openxmlformats.org/drawingml/2006/main">
              <a:ext uri="{FF2B5EF4-FFF2-40B4-BE49-F238E27FC236}">
                <a16:creationId xmlns:a16="http://schemas.microsoft.com/office/drawing/2014/main" id="{87D20352-0574-4192-8296-E76D56666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00375"/>
            <a:ext cx="4476750" cy="14763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 i="0">
                <a:solidFill>
                  <a:srgbClr val="12213A"/>
                </a:solidFill>
                <a:latin typeface="Arial"/>
                <a:ea typeface="Arial"/>
                <a:cs typeface="Arial"/>
              </a:defRPr>
            </a:pPr>
            <a:r>
              <a:t>Generic descriptions
No canonical tags
No structured data
Misspelled EECP URL
Broken capitalised Services link</a:t>
            </a:r>
          </a:p>
        </p:txBody>
      </p:sp>
      <p:sp>
        <p:nvSpPr>
          <p:cNvPr id="7" name="s7-new-panel">
            <a:extLst xmlns:a="http://schemas.openxmlformats.org/drawingml/2006/main">
              <a:ext uri="{FF2B5EF4-FFF2-40B4-BE49-F238E27FC236}">
                <a16:creationId xmlns:a16="http://schemas.microsoft.com/office/drawing/2014/main" id="{AD33880E-3AC6-4631-A8F5-C865223C9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2333625"/>
            <a:ext cx="5638800" cy="2333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EC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s7-new-label">
            <a:extLst xmlns:a="http://schemas.openxmlformats.org/drawingml/2006/main">
              <a:ext uri="{FF2B5EF4-FFF2-40B4-BE49-F238E27FC236}">
                <a16:creationId xmlns:a16="http://schemas.microsoft.com/office/drawing/2014/main" id="{E4769148-F2AC-414A-961F-D5D02C578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590800"/>
            <a:ext cx="1714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102441"/>
                </a:solidFill>
                <a:latin typeface="Arial"/>
                <a:ea typeface="Arial"/>
                <a:cs typeface="Arial"/>
              </a:defRPr>
            </a:pPr>
            <a:r>
              <a:t>REDESIGNED</a:t>
            </a:r>
          </a:p>
        </p:txBody>
      </p:sp>
      <p:sp>
        <p:nvSpPr>
          <p:cNvPr id="9" name="s7-new-copy">
            <a:extLst xmlns:a="http://schemas.openxmlformats.org/drawingml/2006/main">
              <a:ext uri="{FF2B5EF4-FFF2-40B4-BE49-F238E27FC236}">
                <a16:creationId xmlns:a16="http://schemas.microsoft.com/office/drawing/2014/main" id="{F5951896-2C00-4BBD-B8A8-E82645785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000375"/>
            <a:ext cx="4857750" cy="14763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 i="0">
                <a:solidFill>
                  <a:srgbClr val="102441"/>
                </a:solidFill>
                <a:latin typeface="Arial"/>
                <a:ea typeface="Arial"/>
                <a:cs typeface="Arial"/>
              </a:defRPr>
            </a:pPr>
            <a:r>
              <a:t>Distinct page titles and descriptions
MedicalClinic + medical/FAQ schema
Clean service and resource URLs
Local Madhurawada relevance
Expanded sitemap</a:t>
            </a:r>
          </a:p>
        </p:txBody>
      </p:sp>
      <p:sp>
        <p:nvSpPr>
          <p:cNvPr id="10" name="s7-risk-band">
            <a:extLst xmlns:a="http://schemas.openxmlformats.org/drawingml/2006/main">
              <a:ext uri="{FF2B5EF4-FFF2-40B4-BE49-F238E27FC236}">
                <a16:creationId xmlns:a16="http://schemas.microsoft.com/office/drawing/2014/main" id="{4C83F255-A604-491E-9038-59E5C1263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000625"/>
            <a:ext cx="112014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E1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s7-risk-label">
            <a:extLst xmlns:a="http://schemas.openxmlformats.org/drawingml/2006/main">
              <a:ext uri="{FF2B5EF4-FFF2-40B4-BE49-F238E27FC236}">
                <a16:creationId xmlns:a16="http://schemas.microsoft.com/office/drawing/2014/main" id="{DBBFF340-C9C9-4C03-9756-1D34E91AF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219700"/>
            <a:ext cx="20955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B93C55"/>
                </a:solidFill>
                <a:latin typeface="Arial"/>
                <a:ea typeface="Arial"/>
                <a:cs typeface="Arial"/>
              </a:defRPr>
            </a:pPr>
            <a:r>
              <a:t>P0 MIGRATION CONTROL</a:t>
            </a:r>
          </a:p>
        </p:txBody>
      </p:sp>
      <p:sp>
        <p:nvSpPr>
          <p:cNvPr id="12" name="s7-risk-copy">
            <a:extLst xmlns:a="http://schemas.openxmlformats.org/drawingml/2006/main">
              <a:ext uri="{FF2B5EF4-FFF2-40B4-BE49-F238E27FC236}">
                <a16:creationId xmlns:a16="http://schemas.microsoft.com/office/drawing/2014/main" id="{8C12878F-613C-4DC2-BA56-B313B6BF5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5162550"/>
            <a:ext cx="8191500" cy="476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B93C55"/>
                </a:solidFill>
                <a:latin typeface="Arial"/>
                <a:ea typeface="Arial"/>
                <a:cs typeface="Arial"/>
              </a:defRPr>
            </a:pPr>
            <a:r>
              <a:t>Add a canonical to every indexable page and 301 every legacy .html URL—including /eecp-theraphy.html—to its new destination.</a:t>
            </a:r>
          </a:p>
        </p:txBody>
      </p:sp>
      <p:cxnSp>
        <p:nvCxnSpPr>
          <p:cNvPr id="29" name="footer-rule-7"/>
          <p:cNvCxnSpPr/>
          <p:nvPr/>
        </p:nvCxnSpPr>
        <p:spPr>
          <a:xfrm xmlns:a="http://schemas.openxmlformats.org/drawingml/2006/main">
            <a:off x="495300" y="6305550"/>
            <a:ext cx="11201400" cy="9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6CDD6"/>
            </a:solidFill>
            <a:prstDash val="solid"/>
          </a:ln>
        </p:spPr>
      </p:cxnSp>
      <p:sp>
        <p:nvSpPr>
          <p:cNvPr id="14" name="footer-left-7">
            <a:extLst xmlns:a="http://schemas.openxmlformats.org/drawingml/2006/main">
              <a:ext uri="{FF2B5EF4-FFF2-40B4-BE49-F238E27FC236}">
                <a16:creationId xmlns:a16="http://schemas.microsoft.com/office/drawing/2014/main" id="{24409872-3EA9-468F-9D39-939235747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19850"/>
            <a:ext cx="40005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t>RISE MEDICAL HUB · WEBSITE DECISION</a:t>
            </a:r>
          </a:p>
        </p:txBody>
      </p:sp>
      <p:sp>
        <p:nvSpPr>
          <p:cNvPr id="15" name="footer-no-7">
            <a:extLst xmlns:a="http://schemas.openxmlformats.org/drawingml/2006/main">
              <a:ext uri="{FF2B5EF4-FFF2-40B4-BE49-F238E27FC236}">
                <a16:creationId xmlns:a16="http://schemas.microsoft.com/office/drawing/2014/main" id="{9D70341C-5034-4313-AC1E-0EE38584B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419850"/>
            <a:ext cx="4762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t>07</a:t>
            </a:r>
          </a:p>
        </p:txBody>
      </p:sp>
      <p:sp>
        <p:nvSpPr>
          <p:cNvPr id="16" name="source-7">
            <a:extLst xmlns:a="http://schemas.openxmlformats.org/drawingml/2006/main">
              <a:ext uri="{FF2B5EF4-FFF2-40B4-BE49-F238E27FC236}">
                <a16:creationId xmlns:a16="http://schemas.microsoft.com/office/drawing/2014/main" id="{7B988373-440F-482E-B60F-860AF4B99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6419850"/>
            <a:ext cx="59055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0" i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t>Source: live + staging metadata, robots and sitemap audit</a:t>
            </a:r>
          </a:p>
        </p:txBody>
      </p:sp>
    </p:spTree>
    <p:extLst>
      <p:ext uri="{BB962C8B-B14F-4D97-AF65-F5344CB8AC3E}">
        <p14:creationId xmlns:p14="http://schemas.microsoft.com/office/powerpoint/2010/main" val="137183599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s8-eyebrow">
            <a:extLst xmlns:a="http://schemas.openxmlformats.org/drawingml/2006/main">
              <a:ext uri="{FF2B5EF4-FFF2-40B4-BE49-F238E27FC236}">
                <a16:creationId xmlns:a16="http://schemas.microsoft.com/office/drawing/2014/main" id="{6E0D4F4A-809F-4917-83FC-F5D7E9ADD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61950"/>
            <a:ext cx="24765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E45E76"/>
                </a:solidFill>
                <a:latin typeface="Arial"/>
                <a:ea typeface="Arial"/>
                <a:cs typeface="Arial"/>
              </a:defRPr>
            </a:pPr>
            <a:r>
              <a:t>CONTROLLED LAUNCH</a:t>
            </a:r>
          </a:p>
        </p:txBody>
      </p:sp>
      <p:sp>
        <p:nvSpPr>
          <p:cNvPr id="2" name="s8-title">
            <a:extLst xmlns:a="http://schemas.openxmlformats.org/drawingml/2006/main">
              <a:ext uri="{FF2B5EF4-FFF2-40B4-BE49-F238E27FC236}">
                <a16:creationId xmlns:a16="http://schemas.microsoft.com/office/drawing/2014/main" id="{C6DC1BA6-D0F8-4037-B344-90FE583F8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723900"/>
            <a:ext cx="112014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 i="0">
                <a:solidFill>
                  <a:srgbClr val="102441"/>
                </a:solidFill>
                <a:latin typeface="Arial"/>
                <a:ea typeface="Arial"/>
                <a:cs typeface="Arial"/>
              </a:defRPr>
            </a:pPr>
            <a:r>
              <a:t>Launch responsibly with three safeguards.</a:t>
            </a:r>
          </a:p>
        </p:txBody>
      </p:sp>
      <p:sp>
        <p:nvSpPr>
          <p:cNvPr id="3" name="s8-panel-0">
            <a:extLst xmlns:a="http://schemas.openxmlformats.org/drawingml/2006/main">
              <a:ext uri="{FF2B5EF4-FFF2-40B4-BE49-F238E27FC236}">
                <a16:creationId xmlns:a16="http://schemas.microsoft.com/office/drawing/2014/main" id="{869679F6-D2BB-4206-B316-C761D8B6F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619250"/>
            <a:ext cx="3333750" cy="3476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1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8-num-0">
            <a:extLst xmlns:a="http://schemas.openxmlformats.org/drawingml/2006/main">
              <a:ext uri="{FF2B5EF4-FFF2-40B4-BE49-F238E27FC236}">
                <a16:creationId xmlns:a16="http://schemas.microsoft.com/office/drawing/2014/main" id="{E243E6A9-8D75-4542-8605-389A496D7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924050"/>
            <a:ext cx="9525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E45E76"/>
                </a:solidFill>
                <a:latin typeface="Arial"/>
                <a:ea typeface="Arial"/>
                <a:cs typeface="Arial"/>
              </a:defRPr>
            </a:pPr>
            <a:r>
              <a:t>01</a:t>
            </a:r>
          </a:p>
        </p:txBody>
      </p:sp>
      <p:sp>
        <p:nvSpPr>
          <p:cNvPr id="5" name="s8-title-0">
            <a:extLst xmlns:a="http://schemas.openxmlformats.org/drawingml/2006/main">
              <a:ext uri="{FF2B5EF4-FFF2-40B4-BE49-F238E27FC236}">
                <a16:creationId xmlns:a16="http://schemas.microsoft.com/office/drawing/2014/main" id="{B460121C-4151-4707-85EB-C034B7243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71750"/>
            <a:ext cx="2762250" cy="685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 i="0">
                <a:solidFill>
                  <a:srgbClr val="102441"/>
                </a:solidFill>
                <a:latin typeface="Arial"/>
                <a:ea typeface="Arial"/>
                <a:cs typeface="Arial"/>
              </a:defRPr>
            </a:pPr>
            <a:r>
              <a:t>Verify facts</a:t>
            </a:r>
          </a:p>
        </p:txBody>
      </p:sp>
      <p:sp>
        <p:nvSpPr>
          <p:cNvPr id="6" name="s8-copy-0">
            <a:extLst xmlns:a="http://schemas.openxmlformats.org/drawingml/2006/main">
              <a:ext uri="{FF2B5EF4-FFF2-40B4-BE49-F238E27FC236}">
                <a16:creationId xmlns:a16="http://schemas.microsoft.com/office/drawing/2014/main" id="{0EEA6C40-A35F-4868-A0BD-386A72033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448050"/>
            <a:ext cx="2762250" cy="1333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t>Sign off doctor names, qualifications, languages, schedules, service claims, phone/WhatsApp, parking, reporting times, and 24-hour support.</a:t>
            </a:r>
          </a:p>
        </p:txBody>
      </p:sp>
      <p:sp>
        <p:nvSpPr>
          <p:cNvPr id="7" name="s8-dot-0">
            <a:extLst xmlns:a="http://schemas.openxmlformats.org/drawingml/2006/main">
              <a:ext uri="{FF2B5EF4-FFF2-40B4-BE49-F238E27FC236}">
                <a16:creationId xmlns:a16="http://schemas.microsoft.com/office/drawing/2014/main" id="{368E4BA5-5CE9-4F45-B1EF-61B3E9BC3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4578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45E7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s8-panel-1">
            <a:extLst xmlns:a="http://schemas.openxmlformats.org/drawingml/2006/main">
              <a:ext uri="{FF2B5EF4-FFF2-40B4-BE49-F238E27FC236}">
                <a16:creationId xmlns:a16="http://schemas.microsoft.com/office/drawing/2014/main" id="{52691138-4B8E-4508-BC61-9B758470C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1619250"/>
            <a:ext cx="3333750" cy="3476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EC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s8-num-1">
            <a:extLst xmlns:a="http://schemas.openxmlformats.org/drawingml/2006/main">
              <a:ext uri="{FF2B5EF4-FFF2-40B4-BE49-F238E27FC236}">
                <a16:creationId xmlns:a16="http://schemas.microsoft.com/office/drawing/2014/main" id="{F5C3F1AD-9A0A-468A-A2EE-C3E2C63C5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1924050"/>
            <a:ext cx="9525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E45E76"/>
                </a:solidFill>
                <a:latin typeface="Arial"/>
                <a:ea typeface="Arial"/>
                <a:cs typeface="Arial"/>
              </a:defRPr>
            </a:pPr>
            <a:r>
              <a:t>02</a:t>
            </a:r>
          </a:p>
        </p:txBody>
      </p:sp>
      <p:sp>
        <p:nvSpPr>
          <p:cNvPr id="10" name="s8-title-1">
            <a:extLst xmlns:a="http://schemas.openxmlformats.org/drawingml/2006/main">
              <a:ext uri="{FF2B5EF4-FFF2-40B4-BE49-F238E27FC236}">
                <a16:creationId xmlns:a16="http://schemas.microsoft.com/office/drawing/2014/main" id="{DE5F6C05-648E-43A7-AF8D-0CCB3A9A3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571750"/>
            <a:ext cx="2762250" cy="685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 i="0">
                <a:solidFill>
                  <a:srgbClr val="102441"/>
                </a:solidFill>
                <a:latin typeface="Arial"/>
                <a:ea typeface="Arial"/>
                <a:cs typeface="Arial"/>
              </a:defRPr>
            </a:pPr>
            <a:r>
              <a:t>Protect equity</a:t>
            </a:r>
          </a:p>
        </p:txBody>
      </p:sp>
      <p:sp>
        <p:nvSpPr>
          <p:cNvPr id="11" name="s8-copy-1">
            <a:extLst xmlns:a="http://schemas.openxmlformats.org/drawingml/2006/main">
              <a:ext uri="{FF2B5EF4-FFF2-40B4-BE49-F238E27FC236}">
                <a16:creationId xmlns:a16="http://schemas.microsoft.com/office/drawing/2014/main" id="{091A0D1B-F571-4DC0-A95D-E7E0CA1FA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448050"/>
            <a:ext cx="2762250" cy="1333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t>Ship redirects, canonical URLs, one preferred domain, legal pages, structured-data validation, and Search Console submission.</a:t>
            </a:r>
          </a:p>
        </p:txBody>
      </p:sp>
      <p:sp>
        <p:nvSpPr>
          <p:cNvPr id="12" name="s8-dot-1">
            <a:extLst xmlns:a="http://schemas.openxmlformats.org/drawingml/2006/main">
              <a:ext uri="{FF2B5EF4-FFF2-40B4-BE49-F238E27FC236}">
                <a16:creationId xmlns:a16="http://schemas.microsoft.com/office/drawing/2014/main" id="{C7A21959-511D-4D24-AE69-CEBB3CE20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54578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45E7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s8-panel-2">
            <a:extLst xmlns:a="http://schemas.openxmlformats.org/drawingml/2006/main">
              <a:ext uri="{FF2B5EF4-FFF2-40B4-BE49-F238E27FC236}">
                <a16:creationId xmlns:a16="http://schemas.microsoft.com/office/drawing/2014/main" id="{C6CD267A-FCC0-42F9-8BD7-D9920095E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619250"/>
            <a:ext cx="3333750" cy="3476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1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s8-num-2">
            <a:extLst xmlns:a="http://schemas.openxmlformats.org/drawingml/2006/main">
              <a:ext uri="{FF2B5EF4-FFF2-40B4-BE49-F238E27FC236}">
                <a16:creationId xmlns:a16="http://schemas.microsoft.com/office/drawing/2014/main" id="{A5AB80BB-991F-47A1-8814-A82AC4E1D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1924050"/>
            <a:ext cx="9525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E45E76"/>
                </a:solidFill>
                <a:latin typeface="Arial"/>
                <a:ea typeface="Arial"/>
                <a:cs typeface="Arial"/>
              </a:defRPr>
            </a:pPr>
            <a:r>
              <a:t>03</a:t>
            </a:r>
          </a:p>
        </p:txBody>
      </p:sp>
      <p:sp>
        <p:nvSpPr>
          <p:cNvPr id="15" name="s8-title-2">
            <a:extLst xmlns:a="http://schemas.openxmlformats.org/drawingml/2006/main">
              <a:ext uri="{FF2B5EF4-FFF2-40B4-BE49-F238E27FC236}">
                <a16:creationId xmlns:a16="http://schemas.microsoft.com/office/drawing/2014/main" id="{CFBB5C53-FB9E-46DD-9FE3-B41C33DFA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571750"/>
            <a:ext cx="2762250" cy="685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 i="0">
                <a:solidFill>
                  <a:srgbClr val="102441"/>
                </a:solidFill>
                <a:latin typeface="Arial"/>
                <a:ea typeface="Arial"/>
                <a:cs typeface="Arial"/>
              </a:defRPr>
            </a:pPr>
            <a:r>
              <a:t>Measure demand</a:t>
            </a:r>
          </a:p>
        </p:txBody>
      </p:sp>
      <p:sp>
        <p:nvSpPr>
          <p:cNvPr id="16" name="s8-copy-2">
            <a:extLst xmlns:a="http://schemas.openxmlformats.org/drawingml/2006/main">
              <a:ext uri="{FF2B5EF4-FFF2-40B4-BE49-F238E27FC236}">
                <a16:creationId xmlns:a16="http://schemas.microsoft.com/office/drawing/2014/main" id="{253ECE26-3256-4621-81D1-E2440F6A4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448050"/>
            <a:ext cx="2762250" cy="1333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t>Track form starts, WhatsApp continuation, phone taps, directions, failed handoffs, and the service that generated each enquiry.</a:t>
            </a:r>
          </a:p>
        </p:txBody>
      </p:sp>
      <p:sp>
        <p:nvSpPr>
          <p:cNvPr id="17" name="s8-dot-2">
            <a:extLst xmlns:a="http://schemas.openxmlformats.org/drawingml/2006/main">
              <a:ext uri="{FF2B5EF4-FFF2-40B4-BE49-F238E27FC236}">
                <a16:creationId xmlns:a16="http://schemas.microsoft.com/office/drawing/2014/main" id="{59804C18-E6AB-4574-8295-B5C17C91B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54578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45E76"/>
          </a:solidFill>
          <a:ln xmlns:a="http://schemas.openxmlformats.org/drawingml/2006/main" w="0">
            <a:noFill/>
            <a:prstDash val="solid"/>
          </a:ln>
        </p:spPr>
      </p:sp>
      <p:cxnSp>
        <p:nvCxnSpPr>
          <p:cNvPr id="43" name="s8-line"/>
          <p:cNvCxnSpPr/>
          <p:nvPr/>
        </p:nvCxnSpPr>
        <p:spPr>
          <a:xfrm xmlns:a="http://schemas.openxmlformats.org/drawingml/2006/main">
            <a:off x="495300" y="5534025"/>
            <a:ext cx="11201400" cy="9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02441"/>
            </a:solidFill>
            <a:prstDash val="solid"/>
          </a:ln>
        </p:spPr>
      </p:cxnSp>
      <p:sp>
        <p:nvSpPr>
          <p:cNvPr id="19" name="s8-l1">
            <a:extLst xmlns:a="http://schemas.openxmlformats.org/drawingml/2006/main">
              <a:ext uri="{FF2B5EF4-FFF2-40B4-BE49-F238E27FC236}">
                <a16:creationId xmlns:a16="http://schemas.microsoft.com/office/drawing/2014/main" id="{35804A05-52B4-4CBB-B8FC-367606892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753100"/>
            <a:ext cx="2857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102441"/>
                </a:solidFill>
                <a:latin typeface="Arial"/>
                <a:ea typeface="Arial"/>
                <a:cs typeface="Arial"/>
              </a:defRPr>
            </a:pPr>
            <a:r>
              <a:t>CONTENT SIGN-OFF</a:t>
            </a:r>
          </a:p>
        </p:txBody>
      </p:sp>
      <p:sp>
        <p:nvSpPr>
          <p:cNvPr id="20" name="s8-l2">
            <a:extLst xmlns:a="http://schemas.openxmlformats.org/drawingml/2006/main">
              <a:ext uri="{FF2B5EF4-FFF2-40B4-BE49-F238E27FC236}">
                <a16:creationId xmlns:a16="http://schemas.microsoft.com/office/drawing/2014/main" id="{EC7DD809-5721-4E49-BC07-00EE21CDF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5753100"/>
            <a:ext cx="29527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102441"/>
                </a:solidFill>
                <a:latin typeface="Arial"/>
                <a:ea typeface="Arial"/>
                <a:cs typeface="Arial"/>
              </a:defRPr>
            </a:pPr>
            <a:r>
              <a:t>REDIRECTS + CANONICALS</a:t>
            </a:r>
          </a:p>
        </p:txBody>
      </p:sp>
      <p:sp>
        <p:nvSpPr>
          <p:cNvPr id="21" name="s8-l3">
            <a:extLst xmlns:a="http://schemas.openxmlformats.org/drawingml/2006/main">
              <a:ext uri="{FF2B5EF4-FFF2-40B4-BE49-F238E27FC236}">
                <a16:creationId xmlns:a16="http://schemas.microsoft.com/office/drawing/2014/main" id="{F875B048-8555-47B6-B4E6-F43E65683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5753100"/>
            <a:ext cx="2857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102441"/>
                </a:solidFill>
                <a:latin typeface="Arial"/>
                <a:ea typeface="Arial"/>
                <a:cs typeface="Arial"/>
              </a:defRPr>
            </a:pPr>
            <a:r>
              <a:t>LAUNCH + TRACKING</a:t>
            </a:r>
          </a:p>
        </p:txBody>
      </p:sp>
      <p:cxnSp>
        <p:nvCxnSpPr>
          <p:cNvPr id="47" name="footer-rule-8"/>
          <p:cNvCxnSpPr/>
          <p:nvPr/>
        </p:nvCxnSpPr>
        <p:spPr>
          <a:xfrm xmlns:a="http://schemas.openxmlformats.org/drawingml/2006/main">
            <a:off x="495300" y="6305550"/>
            <a:ext cx="11201400" cy="9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6CDD6"/>
            </a:solidFill>
            <a:prstDash val="solid"/>
          </a:ln>
        </p:spPr>
      </p:cxnSp>
      <p:sp>
        <p:nvSpPr>
          <p:cNvPr id="23" name="footer-left-8">
            <a:extLst xmlns:a="http://schemas.openxmlformats.org/drawingml/2006/main">
              <a:ext uri="{FF2B5EF4-FFF2-40B4-BE49-F238E27FC236}">
                <a16:creationId xmlns:a16="http://schemas.microsoft.com/office/drawing/2014/main" id="{2E2B7C27-F190-44C3-B45D-AFAB3E616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19850"/>
            <a:ext cx="40005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t>RISE MEDICAL HUB · WEBSITE DECISION</a:t>
            </a:r>
          </a:p>
        </p:txBody>
      </p:sp>
      <p:sp>
        <p:nvSpPr>
          <p:cNvPr id="24" name="footer-no-8">
            <a:extLst xmlns:a="http://schemas.openxmlformats.org/drawingml/2006/main">
              <a:ext uri="{FF2B5EF4-FFF2-40B4-BE49-F238E27FC236}">
                <a16:creationId xmlns:a16="http://schemas.microsoft.com/office/drawing/2014/main" id="{5BB3A7B0-E8D4-4612-8542-82AB29184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419850"/>
            <a:ext cx="4762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t>08</a:t>
            </a:r>
          </a:p>
        </p:txBody>
      </p:sp>
      <p:sp>
        <p:nvSpPr>
          <p:cNvPr id="25" name="source-8">
            <a:extLst xmlns:a="http://schemas.openxmlformats.org/drawingml/2006/main">
              <a:ext uri="{FF2B5EF4-FFF2-40B4-BE49-F238E27FC236}">
                <a16:creationId xmlns:a16="http://schemas.microsoft.com/office/drawing/2014/main" id="{81E85E0E-1CD1-4619-86EA-33AD00F27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6419850"/>
            <a:ext cx="59055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0" i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t>Source: website audit</a:t>
            </a:r>
          </a:p>
        </p:txBody>
      </p:sp>
    </p:spTree>
    <p:extLst>
      <p:ext uri="{BB962C8B-B14F-4D97-AF65-F5344CB8AC3E}">
        <p14:creationId xmlns:p14="http://schemas.microsoft.com/office/powerpoint/2010/main" val="138184930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10244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s9-coral-bar">
            <a:extLst xmlns:a="http://schemas.openxmlformats.org/drawingml/2006/main">
              <a:ext uri="{FF2B5EF4-FFF2-40B4-BE49-F238E27FC236}">
                <a16:creationId xmlns:a16="http://schemas.microsoft.com/office/drawing/2014/main" id="{C617ABB0-ECD5-4A5B-963D-12B9FDB94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95300"/>
            <a:ext cx="95250" cy="5581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5E7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9-eyebrow">
            <a:extLst xmlns:a="http://schemas.openxmlformats.org/drawingml/2006/main">
              <a:ext uri="{FF2B5EF4-FFF2-40B4-BE49-F238E27FC236}">
                <a16:creationId xmlns:a16="http://schemas.microsoft.com/office/drawing/2014/main" id="{F0B62906-8F85-4081-8DE8-4CAD718F3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609600"/>
            <a:ext cx="24765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9ED9CF"/>
                </a:solidFill>
                <a:latin typeface="Arial"/>
                <a:ea typeface="Arial"/>
                <a:cs typeface="Arial"/>
              </a:defRPr>
            </a:pPr>
            <a:r>
              <a:t>THE DECISION</a:t>
            </a:r>
          </a:p>
        </p:txBody>
      </p:sp>
      <p:sp>
        <p:nvSpPr>
          <p:cNvPr id="3" name="s9-title">
            <a:extLst xmlns:a="http://schemas.openxmlformats.org/drawingml/2006/main">
              <a:ext uri="{FF2B5EF4-FFF2-40B4-BE49-F238E27FC236}">
                <a16:creationId xmlns:a16="http://schemas.microsoft.com/office/drawing/2014/main" id="{02FBFAC3-FB01-4019-A4FC-DFB5634B0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525000" cy="2381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6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Approve the redesigned site—with a controlled launch gate.</a:t>
            </a:r>
          </a:p>
        </p:txBody>
      </p:sp>
      <p:sp>
        <p:nvSpPr>
          <p:cNvPr id="4" name="s9-subtitle">
            <a:extLst xmlns:a="http://schemas.openxmlformats.org/drawingml/2006/main">
              <a:ext uri="{FF2B5EF4-FFF2-40B4-BE49-F238E27FC236}">
                <a16:creationId xmlns:a16="http://schemas.microsoft.com/office/drawing/2014/main" id="{FCBC10C5-CBDE-4231-93EE-E99D3C12C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429125"/>
            <a:ext cx="8096250" cy="914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 i="0">
                <a:solidFill>
                  <a:srgbClr val="CDECE6"/>
                </a:solidFill>
                <a:latin typeface="Arial"/>
                <a:ea typeface="Arial"/>
                <a:cs typeface="Arial"/>
              </a:defRPr>
            </a:pPr>
            <a:r>
              <a:t>The strategic work is done. The remaining work is factual sign-off, migration protection, legal readiness, and measurement.</a:t>
            </a:r>
          </a:p>
        </p:txBody>
      </p:sp>
      <p:sp>
        <p:nvSpPr>
          <p:cNvPr id="5" name="s9-actions">
            <a:extLst xmlns:a="http://schemas.openxmlformats.org/drawingml/2006/main">
              <a:ext uri="{FF2B5EF4-FFF2-40B4-BE49-F238E27FC236}">
                <a16:creationId xmlns:a16="http://schemas.microsoft.com/office/drawing/2014/main" id="{1B6005E3-169E-4D1A-BABF-8A3944A40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4400550"/>
            <a:ext cx="2000250" cy="1143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1  Verify
2  Redirect
3  Measure</a:t>
            </a:r>
          </a:p>
        </p:txBody>
      </p:sp>
      <p:cxnSp>
        <p:nvCxnSpPr>
          <p:cNvPr id="14" name="s9-footer-rule"/>
          <p:cNvCxnSpPr/>
          <p:nvPr/>
        </p:nvCxnSpPr>
        <p:spPr>
          <a:xfrm xmlns:a="http://schemas.openxmlformats.org/drawingml/2006/main">
            <a:off x="876300" y="6000750"/>
            <a:ext cx="10534650" cy="9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1B355A"/>
            </a:solidFill>
            <a:prstDash val="solid"/>
          </a:ln>
        </p:spPr>
      </p:cxnSp>
      <p:sp>
        <p:nvSpPr>
          <p:cNvPr id="7" name="s9-footer">
            <a:extLst xmlns:a="http://schemas.openxmlformats.org/drawingml/2006/main">
              <a:ext uri="{FF2B5EF4-FFF2-40B4-BE49-F238E27FC236}">
                <a16:creationId xmlns:a16="http://schemas.microsoft.com/office/drawing/2014/main" id="{8B8993B9-963C-442E-B04E-741CACF20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6153150"/>
            <a:ext cx="4191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9ED9CF"/>
                </a:solidFill>
                <a:latin typeface="Arial"/>
                <a:ea typeface="Arial"/>
                <a:cs typeface="Arial"/>
              </a:defRPr>
            </a:pPr>
            <a:r>
              <a:t>RISE MEDICAL HUB · WEBSITE DECISION</a:t>
            </a:r>
          </a:p>
        </p:txBody>
      </p:sp>
      <p:sp>
        <p:nvSpPr>
          <p:cNvPr id="8" name="s9-no">
            <a:extLst xmlns:a="http://schemas.openxmlformats.org/drawingml/2006/main">
              <a:ext uri="{FF2B5EF4-FFF2-40B4-BE49-F238E27FC236}">
                <a16:creationId xmlns:a16="http://schemas.microsoft.com/office/drawing/2014/main" id="{716CCDEF-D5D5-4C82-9FFB-47970B3F1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153150"/>
            <a:ext cx="4572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9ED9CF"/>
                </a:solidFill>
                <a:latin typeface="Arial"/>
                <a:ea typeface="Arial"/>
                <a:cs typeface="Arial"/>
              </a:defRPr>
            </a:pPr>
            <a: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82053705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2026-07-18T04:37:20.9720000Z</dcterms:created>
  <dcterms:modified xsi:type="dcterms:W3CDTF">2026-07-18T04:37:20.9720000Z</dcterms:modified>
</coreProperties>
</file>