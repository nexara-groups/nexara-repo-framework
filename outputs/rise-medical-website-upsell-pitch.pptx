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6d663a8d644b5" /><Relationship Type="http://schemas.openxmlformats.org/officeDocument/2006/relationships/extended-properties" Target="/docProps/app.xml" Id="Rf944ff283df2459f" /><Relationship Type="http://schemas.openxmlformats.org/officeDocument/2006/relationships/officeDocument" Target="/ppt/presentation.xml" Id="R482d4107da4543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8bb984ebe54b73"/>
  </p:sldMasterIdLst>
  <p:notesMasterIdLst>
    <p:notesMasterId xmlns:r="http://schemas.openxmlformats.org/officeDocument/2006/relationships" r:id="R2efe499f84e240e7"/>
  </p:notesMasterIdLst>
  <p:sldIdLst>
    <p:sldId xmlns:r="http://schemas.openxmlformats.org/officeDocument/2006/relationships" id="256" r:id="R8741461aaf8245e5"/>
    <p:sldId xmlns:r="http://schemas.openxmlformats.org/officeDocument/2006/relationships" id="257" r:id="Ra8cff94bcc1646f4"/>
    <p:sldId xmlns:r="http://schemas.openxmlformats.org/officeDocument/2006/relationships" id="258" r:id="Re97d843ec9c24c19"/>
    <p:sldId xmlns:r="http://schemas.openxmlformats.org/officeDocument/2006/relationships" id="259" r:id="R9fb7f1f11ce242b0"/>
    <p:sldId xmlns:r="http://schemas.openxmlformats.org/officeDocument/2006/relationships" id="260" r:id="R62e63316ee894ff9"/>
    <p:sldId xmlns:r="http://schemas.openxmlformats.org/officeDocument/2006/relationships" id="261" r:id="Ra3c7a513a78d4a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a947a9bb54548" /><Relationship Type="http://schemas.openxmlformats.org/officeDocument/2006/relationships/slideMaster" Target="/ppt/slideMasters/slideMaster1.xml" Id="R618bb984ebe54b73" /><Relationship Type="http://schemas.openxmlformats.org/officeDocument/2006/relationships/notesMaster" Target="/ppt/notesMasters/notesMaster1.xml" Id="R2efe499f84e240e7" /><Relationship Type="http://schemas.openxmlformats.org/officeDocument/2006/relationships/presProps" Target="/ppt/presProps.xml" Id="Re1c08d5a463844e8" /><Relationship Type="http://schemas.openxmlformats.org/officeDocument/2006/relationships/tableStyles" Target="/ppt/tableStyles.xml" Id="Ra76492f9934a4318" /><Relationship Type="http://schemas.openxmlformats.org/officeDocument/2006/relationships/slide" Target="/ppt/slides/slide1.xml" Id="R8741461aaf8245e5" /><Relationship Type="http://schemas.openxmlformats.org/officeDocument/2006/relationships/slide" Target="/ppt/slides/slide2.xml" Id="Ra8cff94bcc1646f4" /><Relationship Type="http://schemas.openxmlformats.org/officeDocument/2006/relationships/slide" Target="/ppt/slides/slide3.xml" Id="Re97d843ec9c24c19" /><Relationship Type="http://schemas.openxmlformats.org/officeDocument/2006/relationships/slide" Target="/ppt/slides/slide4.xml" Id="R9fb7f1f11ce242b0" /><Relationship Type="http://schemas.openxmlformats.org/officeDocument/2006/relationships/slide" Target="/ppt/slides/slide5.xml" Id="R62e63316ee894ff9" /><Relationship Type="http://schemas.openxmlformats.org/officeDocument/2006/relationships/slide" Target="/ppt/slides/slide6.xml" Id="Ra3c7a513a78d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d760e3ea76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904949d0e4b3a" /><Relationship Type="http://schemas.openxmlformats.org/officeDocument/2006/relationships/notesMaster" Target="/ppt/notesMasters/notesMaster1.xml" Id="Re45bd9154b104d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94f12494f04b73" /><Relationship Type="http://schemas.openxmlformats.org/officeDocument/2006/relationships/notesMaster" Target="/ppt/notesMasters/notesMaster1.xml" Id="Rcbdd45bcea70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4b4113d68419c" /><Relationship Type="http://schemas.openxmlformats.org/officeDocument/2006/relationships/notesMaster" Target="/ppt/notesMasters/notesMaster1.xml" Id="Rff51a5744bc2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ce10c1d028450a" /><Relationship Type="http://schemas.openxmlformats.org/officeDocument/2006/relationships/notesMaster" Target="/ppt/notesMasters/notesMaster1.xml" Id="R255631fdf6fa45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79759956984e08" /><Relationship Type="http://schemas.openxmlformats.org/officeDocument/2006/relationships/notesMaster" Target="/ppt/notesMasters/notesMaster1.xml" Id="Rda77ab55b54c4a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d0ff1e217747a6" /><Relationship Type="http://schemas.openxmlformats.org/officeDocument/2006/relationships/notesMaster" Target="/ppt/notesMasters/notesMaster1.xml" Id="Rf8a231687f7943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e6cdc403e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695bce1d4742fb" /><Relationship Type="http://schemas.openxmlformats.org/officeDocument/2006/relationships/slideLayout" Target="/ppt/slideLayouts/slideLayout1.xml" Id="Rbbbd8b2aa146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d8b2aa146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5ce614a44e43" /><Relationship Type="http://schemas.openxmlformats.org/officeDocument/2006/relationships/image" Target="/ppt/media/image.png" Id="R7f9dbfdc6a1747c6" /><Relationship Type="http://schemas.openxmlformats.org/officeDocument/2006/relationships/notesSlide" Target="/ppt/notesSlides/notesSlide1.xml" Id="Rcd29476b37cd40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588044e944eeb" /><Relationship Type="http://schemas.openxmlformats.org/officeDocument/2006/relationships/notesSlide" Target="/ppt/notesSlides/notesSlide2.xml" Id="R852cededca2540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5109943c84dfd" /><Relationship Type="http://schemas.openxmlformats.org/officeDocument/2006/relationships/notesSlide" Target="/ppt/notesSlides/notesSlide3.xml" Id="R52651bb65d0949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97efda8a94194" /><Relationship Type="http://schemas.openxmlformats.org/officeDocument/2006/relationships/notesSlide" Target="/ppt/notesSlides/notesSlide4.xml" Id="R87846c93ef8f48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9fe66a8b041bc" /><Relationship Type="http://schemas.openxmlformats.org/officeDocument/2006/relationships/notesSlide" Target="/ppt/notesSlides/notesSlide5.xml" Id="R729cf12fdbd147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ac3e76af641ed" /><Relationship Type="http://schemas.openxmlformats.org/officeDocument/2006/relationships/notesSlide" Target="/ppt/notesSlides/notesSlide6.xml" Id="R6dc1d67a6d6643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dbfdc6a1747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62125"/>
            <a:ext cx="50292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0A6DCDC-F077-4005-9989-15A27EC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179227D-374F-4168-A47B-E46F12DE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RISE MEDICAL HUB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455E815-D2E6-423B-A834-E6F30B0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53340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95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Rise needs more than a prettier website. It needs a growth engine.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E8BE2ED-3878-433C-B9C2-D575C9F8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5191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current site hides Rise’s strongest services from search and patients. The redesign turns them into discoverable, credible pathways.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E9CF480D-7682-48E9-BEF1-D22B661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DECISION DECK · 18 JULY 2026</a:t>
            </a:r>
          </a:p>
        </p:txBody>
      </p:sp>
      <p:cxnSp>
        <p:nvCxnSpPr>
          <p:cNvPr id="33" name="footer-rule-1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8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E308A205-5777-4376-8A70-B565AE4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9" name="footer-no-1">
            <a:extLst xmlns:a="http://schemas.openxmlformats.org/drawingml/2006/main">
              <a:ext uri="{FF2B5EF4-FFF2-40B4-BE49-F238E27FC236}">
                <a16:creationId xmlns:a16="http://schemas.microsoft.com/office/drawing/2014/main" id="{EF18CF63-FD31-4362-B2F8-1F879AD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ource-1">
            <a:extLst xmlns:a="http://schemas.openxmlformats.org/drawingml/2006/main">
              <a:ext uri="{FF2B5EF4-FFF2-40B4-BE49-F238E27FC236}">
                <a16:creationId xmlns:a16="http://schemas.microsoft.com/office/drawing/2014/main" id="{879815A6-32D0-4F1D-A894-1B1B496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Live-site + redesigned build audit</a:t>
            </a:r>
          </a:p>
        </p:txBody>
      </p:sp>
    </p:spTree>
    <p:extLst>
      <p:ext uri="{BB962C8B-B14F-4D97-AF65-F5344CB8AC3E}">
        <p14:creationId xmlns:p14="http://schemas.microsoft.com/office/powerpoint/2010/main" val="568090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3-eyebrow">
            <a:extLst xmlns:a="http://schemas.openxmlformats.org/drawingml/2006/main">
              <a:ext uri="{FF2B5EF4-FFF2-40B4-BE49-F238E27FC236}">
                <a16:creationId xmlns:a16="http://schemas.microsoft.com/office/drawing/2014/main" id="{1075C8D0-60E3-4552-B8F1-155FA866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WHAT THE OLD SITE ACTUALLY HAS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5FB8118D-7EB7-4404-9150-588EA67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old website does not own Rise’s strongest care.</a:t>
            </a:r>
          </a:p>
        </p:txBody>
      </p:sp>
      <p:sp>
        <p:nvSpPr>
          <p:cNvPr id="3" name="s3-intro">
            <a:extLst xmlns:a="http://schemas.openxmlformats.org/drawingml/2006/main">
              <a:ext uri="{FF2B5EF4-FFF2-40B4-BE49-F238E27FC236}">
                <a16:creationId xmlns:a16="http://schemas.microsoft.com/office/drawing/2014/main" id="{785FF389-2216-41A0-A068-E969AFF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9810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It has pages, but not the depth or structure needed to win high-intent searches or establish clinical trust.</a:t>
            </a:r>
          </a:p>
        </p:txBody>
      </p:sp>
      <p:sp>
        <p:nvSpPr>
          <p:cNvPr id="4" name="s3-panel-0">
            <a:extLst xmlns:a="http://schemas.openxmlformats.org/drawingml/2006/main">
              <a:ext uri="{FF2B5EF4-FFF2-40B4-BE49-F238E27FC236}">
                <a16:creationId xmlns:a16="http://schemas.microsoft.com/office/drawing/2014/main" id="{D48CF784-8E01-45D2-8C0F-39898E7A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3-stat-0">
            <a:extLst xmlns:a="http://schemas.openxmlformats.org/drawingml/2006/main">
              <a:ext uri="{FF2B5EF4-FFF2-40B4-BE49-F238E27FC236}">
                <a16:creationId xmlns:a16="http://schemas.microsoft.com/office/drawing/2014/main" id="{BF1D4105-E194-4DA4-BF91-0B34BE6B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s3-label-0">
            <a:extLst xmlns:a="http://schemas.openxmlformats.org/drawingml/2006/main">
              <a:ext uri="{FF2B5EF4-FFF2-40B4-BE49-F238E27FC236}">
                <a16:creationId xmlns:a16="http://schemas.microsoft.com/office/drawing/2014/main" id="{1364A7D6-39A5-48B0-AF6E-6101E73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URLs in its sitemap</a:t>
            </a:r>
          </a:p>
        </p:txBody>
      </p:sp>
      <p:sp>
        <p:nvSpPr>
          <p:cNvPr id="7" name="s3-copy-0">
            <a:extLst xmlns:a="http://schemas.openxmlformats.org/drawingml/2006/main">
              <a:ext uri="{FF2B5EF4-FFF2-40B4-BE49-F238E27FC236}">
                <a16:creationId xmlns:a16="http://schemas.microsoft.com/office/drawing/2014/main" id="{D4C63E10-5459-457E-A99A-2B540BBA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architecture stops at generic service pages and booking.</a:t>
            </a:r>
          </a:p>
        </p:txBody>
      </p:sp>
      <p:sp>
        <p:nvSpPr>
          <p:cNvPr id="8" name="s3-panel-1">
            <a:extLst xmlns:a="http://schemas.openxmlformats.org/drawingml/2006/main">
              <a:ext uri="{FF2B5EF4-FFF2-40B4-BE49-F238E27FC236}">
                <a16:creationId xmlns:a16="http://schemas.microsoft.com/office/drawing/2014/main" id="{08F6CC59-B82D-4027-A9AA-69CCED4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stat-1">
            <a:extLst xmlns:a="http://schemas.openxmlformats.org/drawingml/2006/main">
              <a:ext uri="{FF2B5EF4-FFF2-40B4-BE49-F238E27FC236}">
                <a16:creationId xmlns:a16="http://schemas.microsoft.com/office/drawing/2014/main" id="{5F038A5A-5DD9-4185-8ADA-2870524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0" name="s3-label-1">
            <a:extLst xmlns:a="http://schemas.openxmlformats.org/drawingml/2006/main">
              <a:ext uri="{FF2B5EF4-FFF2-40B4-BE49-F238E27FC236}">
                <a16:creationId xmlns:a16="http://schemas.microsoft.com/office/drawing/2014/main" id="{01523206-F00C-47C6-AE96-AE7B684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14775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Heart or Doctors pages</a:t>
            </a:r>
          </a:p>
        </p:txBody>
      </p:sp>
      <p:sp>
        <p:nvSpPr>
          <p:cNvPr id="11" name="s3-copy-1">
            <a:extLst xmlns:a="http://schemas.openxmlformats.org/drawingml/2006/main">
              <a:ext uri="{FF2B5EF4-FFF2-40B4-BE49-F238E27FC236}">
                <a16:creationId xmlns:a16="http://schemas.microsoft.com/office/drawing/2014/main" id="{499540D4-1A4C-4153-A691-227CA0C6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24375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No page explains heart care or introduces the specialist roster.</a:t>
            </a:r>
          </a:p>
        </p:txBody>
      </p:sp>
      <p:sp>
        <p:nvSpPr>
          <p:cNvPr id="12" name="s3-panel-2">
            <a:extLst xmlns:a="http://schemas.openxmlformats.org/drawingml/2006/main">
              <a:ext uri="{FF2B5EF4-FFF2-40B4-BE49-F238E27FC236}">
                <a16:creationId xmlns:a16="http://schemas.microsoft.com/office/drawing/2014/main" id="{D64F974A-E3BF-43B8-B002-204E74D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3-stat-2">
            <a:extLst xmlns:a="http://schemas.openxmlformats.org/drawingml/2006/main">
              <a:ext uri="{FF2B5EF4-FFF2-40B4-BE49-F238E27FC236}">
                <a16:creationId xmlns:a16="http://schemas.microsoft.com/office/drawing/2014/main" id="{228DC46A-B2CB-4A84-A871-8BD6F3B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27622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270</a:t>
            </a:r>
          </a:p>
        </p:txBody>
      </p:sp>
      <p:sp>
        <p:nvSpPr>
          <p:cNvPr id="14" name="s3-label-2">
            <a:extLst xmlns:a="http://schemas.openxmlformats.org/drawingml/2006/main">
              <a:ext uri="{FF2B5EF4-FFF2-40B4-BE49-F238E27FC236}">
                <a16:creationId xmlns:a16="http://schemas.microsoft.com/office/drawing/2014/main" id="{7B721B93-8D4D-4E0D-BFD5-AAA96D5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14775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words on the EECP page</a:t>
            </a:r>
          </a:p>
        </p:txBody>
      </p:sp>
      <p:sp>
        <p:nvSpPr>
          <p:cNvPr id="15" name="s3-copy-2">
            <a:extLst xmlns:a="http://schemas.openxmlformats.org/drawingml/2006/main">
              <a:ext uri="{FF2B5EF4-FFF2-40B4-BE49-F238E27FC236}">
                <a16:creationId xmlns:a16="http://schemas.microsoft.com/office/drawing/2014/main" id="{23909308-82B9-4C49-808F-AE5973B4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24375"/>
            <a:ext cx="2762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Thin copy at a misspelled URL: /eecp-theraphy.html.</a:t>
            </a:r>
          </a:p>
        </p:txBody>
      </p:sp>
      <p:cxnSp>
        <p:nvCxnSpPr>
          <p:cNvPr id="67" name="footer-rule-3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7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41961179-F8A6-42B4-8A53-B4A3E3BE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8" name="footer-no-3">
            <a:extLst xmlns:a="http://schemas.openxmlformats.org/drawingml/2006/main">
              <a:ext uri="{FF2B5EF4-FFF2-40B4-BE49-F238E27FC236}">
                <a16:creationId xmlns:a16="http://schemas.microsoft.com/office/drawing/2014/main" id="{3F390A69-27DE-4237-8FF3-BC5E64A7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9" name="source-3">
            <a:extLst xmlns:a="http://schemas.openxmlformats.org/drawingml/2006/main">
              <a:ext uri="{FF2B5EF4-FFF2-40B4-BE49-F238E27FC236}">
                <a16:creationId xmlns:a16="http://schemas.microsoft.com/office/drawing/2014/main" id="{12F7F28E-5D26-4C89-9F20-D8F2EBC0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live sitemap + page audit · 18 Jul 2026</a:t>
            </a:r>
          </a:p>
        </p:txBody>
      </p:sp>
    </p:spTree>
    <p:extLst>
      <p:ext uri="{BB962C8B-B14F-4D97-AF65-F5344CB8AC3E}">
        <p14:creationId xmlns:p14="http://schemas.microsoft.com/office/powerpoint/2010/main" val="1033251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7-eyebrow">
            <a:extLst xmlns:a="http://schemas.openxmlformats.org/drawingml/2006/main">
              <a:ext uri="{FF2B5EF4-FFF2-40B4-BE49-F238E27FC236}">
                <a16:creationId xmlns:a16="http://schemas.microsoft.com/office/drawing/2014/main" id="{BFC0A16B-BBBA-4908-9D7E-07283D2E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SEARCH VISIBILITY</a:t>
            </a:r>
          </a:p>
        </p:txBody>
      </p:sp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8D1AFCE8-817E-4011-8530-A4F1A786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SEO problem is structural—not cosmetic.</a:t>
            </a:r>
          </a:p>
        </p:txBody>
      </p:sp>
      <p:sp>
        <p:nvSpPr>
          <p:cNvPr id="3" name="s7-intro">
            <a:extLst xmlns:a="http://schemas.openxmlformats.org/drawingml/2006/main">
              <a:ext uri="{FF2B5EF4-FFF2-40B4-BE49-F238E27FC236}">
                <a16:creationId xmlns:a16="http://schemas.microsoft.com/office/drawing/2014/main" id="{B4BAAEA0-4848-43F6-9969-7C146E0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old site gives search engines generic, duplicated signals. The new architecture creates specific subjects, evidence, and local relevance.</a:t>
            </a:r>
          </a:p>
        </p:txBody>
      </p:sp>
      <p:sp>
        <p:nvSpPr>
          <p:cNvPr id="4" name="s7-old-panel">
            <a:extLst xmlns:a="http://schemas.openxmlformats.org/drawingml/2006/main">
              <a:ext uri="{FF2B5EF4-FFF2-40B4-BE49-F238E27FC236}">
                <a16:creationId xmlns:a16="http://schemas.microsoft.com/office/drawing/2014/main" id="{90B12B9D-E6A4-4D0D-B370-2DCC5712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5257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old-label">
            <a:extLst xmlns:a="http://schemas.openxmlformats.org/drawingml/2006/main">
              <a:ext uri="{FF2B5EF4-FFF2-40B4-BE49-F238E27FC236}">
                <a16:creationId xmlns:a16="http://schemas.microsoft.com/office/drawing/2014/main" id="{B1DF17C5-31FC-4A19-94BF-6BB3A40A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CURRENT</a:t>
            </a:r>
          </a:p>
        </p:txBody>
      </p:sp>
      <p:sp>
        <p:nvSpPr>
          <p:cNvPr id="6" name="s7-old-copy">
            <a:extLst xmlns:a="http://schemas.openxmlformats.org/drawingml/2006/main">
              <a:ext uri="{FF2B5EF4-FFF2-40B4-BE49-F238E27FC236}">
                <a16:creationId xmlns:a16="http://schemas.microsoft.com/office/drawing/2014/main" id="{87D20352-0574-4192-8296-E76D5666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47675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t>Same description on 10/10 pages
No canonical tags or schema
/ and /index.html duplicate
Diagnostic title says EECP Therapy
98 dead-end # links</a:t>
            </a:r>
          </a:p>
        </p:txBody>
      </p:sp>
      <p:sp>
        <p:nvSpPr>
          <p:cNvPr id="7" name="s7-new-panel">
            <a:extLst xmlns:a="http://schemas.openxmlformats.org/drawingml/2006/main">
              <a:ext uri="{FF2B5EF4-FFF2-40B4-BE49-F238E27FC236}">
                <a16:creationId xmlns:a16="http://schemas.microsoft.com/office/drawing/2014/main" id="{AD33880E-3AC6-4631-A8F5-C865223C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33625"/>
            <a:ext cx="56388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7-new-label">
            <a:extLst xmlns:a="http://schemas.openxmlformats.org/drawingml/2006/main">
              <a:ext uri="{FF2B5EF4-FFF2-40B4-BE49-F238E27FC236}">
                <a16:creationId xmlns:a16="http://schemas.microsoft.com/office/drawing/2014/main" id="{E4769148-F2AC-414A-961F-D5D02C57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REDESIGNED</a:t>
            </a:r>
          </a:p>
        </p:txBody>
      </p:sp>
      <p:sp>
        <p:nvSpPr>
          <p:cNvPr id="9" name="s7-new-copy">
            <a:extLst xmlns:a="http://schemas.openxmlformats.org/drawingml/2006/main">
              <a:ext uri="{FF2B5EF4-FFF2-40B4-BE49-F238E27FC236}">
                <a16:creationId xmlns:a16="http://schemas.microsoft.com/office/drawing/2014/main" id="{F5951896-2C00-4BBD-B8A8-E8264578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0375"/>
            <a:ext cx="4857750" cy="1476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23 clean sitemap URLs
Unique titles for major pathways
MedicalClinic + medical/FAQ schema
Heart, EECP and Doctors depth
Local NAP + evidence resources</a:t>
            </a:r>
          </a:p>
        </p:txBody>
      </p:sp>
      <p:sp>
        <p:nvSpPr>
          <p:cNvPr id="10" name="s7-risk-band">
            <a:extLst xmlns:a="http://schemas.openxmlformats.org/drawingml/2006/main">
              <a:ext uri="{FF2B5EF4-FFF2-40B4-BE49-F238E27FC236}">
                <a16:creationId xmlns:a16="http://schemas.microsoft.com/office/drawing/2014/main" id="{4C83F255-A604-491E-9038-59E5C12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1201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7-risk-label">
            <a:extLst xmlns:a="http://schemas.openxmlformats.org/drawingml/2006/main">
              <a:ext uri="{FF2B5EF4-FFF2-40B4-BE49-F238E27FC236}">
                <a16:creationId xmlns:a16="http://schemas.microsoft.com/office/drawing/2014/main" id="{DBBFF340-C9C9-4C03-9756-1D34E91A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LAUNCH REQUIREMENT</a:t>
            </a:r>
          </a:p>
        </p:txBody>
      </p:sp>
      <p:sp>
        <p:nvSpPr>
          <p:cNvPr id="12" name="s7-risk-copy">
            <a:extLst xmlns:a="http://schemas.openxmlformats.org/drawingml/2006/main">
              <a:ext uri="{FF2B5EF4-FFF2-40B4-BE49-F238E27FC236}">
                <a16:creationId xmlns:a16="http://schemas.microsoft.com/office/drawing/2014/main" id="{8C12878F-613C-4DC2-BA56-B313B6BF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819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Finish canonicals, 301 every legacy .html URL, and submit the new sitemap to Search Console.</a:t>
            </a:r>
          </a:p>
        </p:txBody>
      </p:sp>
      <p:cxnSp>
        <p:nvCxnSpPr>
          <p:cNvPr id="55" name="footer-rule-7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24409872-3EA9-468F-9D39-93923574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5" name="footer-no-7">
            <a:extLst xmlns:a="http://schemas.openxmlformats.org/drawingml/2006/main">
              <a:ext uri="{FF2B5EF4-FFF2-40B4-BE49-F238E27FC236}">
                <a16:creationId xmlns:a16="http://schemas.microsoft.com/office/drawing/2014/main" id="{9D70341C-5034-4313-AC1E-0EE38584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ource-7">
            <a:extLst xmlns:a="http://schemas.openxmlformats.org/drawingml/2006/main">
              <a:ext uri="{FF2B5EF4-FFF2-40B4-BE49-F238E27FC236}">
                <a16:creationId xmlns:a16="http://schemas.microsoft.com/office/drawing/2014/main" id="{7B988373-440F-482E-B60F-860AF4B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live metadata, sitemap and DOM audit · 18 Jul 2026</a:t>
            </a:r>
          </a:p>
        </p:txBody>
      </p:sp>
    </p:spTree>
    <p:extLst>
      <p:ext uri="{BB962C8B-B14F-4D97-AF65-F5344CB8AC3E}">
        <p14:creationId xmlns:p14="http://schemas.microsoft.com/office/powerpoint/2010/main" val="1371835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6-eyebrow">
            <a:extLst xmlns:a="http://schemas.openxmlformats.org/drawingml/2006/main">
              <a:ext uri="{FF2B5EF4-FFF2-40B4-BE49-F238E27FC236}">
                <a16:creationId xmlns:a16="http://schemas.microsoft.com/office/drawing/2014/main" id="{9114E261-8701-4453-AC61-EAAC0E27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WHAT THE REDESIGN CREATES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332894A4-15D1-4B78-9747-E5F5DA2F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new site turns expertise into searchable assets.</a:t>
            </a:r>
          </a:p>
        </p:txBody>
      </p:sp>
      <p:sp>
        <p:nvSpPr>
          <p:cNvPr id="3" name="s6-intro">
            <a:extLst xmlns:a="http://schemas.openxmlformats.org/drawingml/2006/main">
              <a:ext uri="{FF2B5EF4-FFF2-40B4-BE49-F238E27FC236}">
                <a16:creationId xmlns:a16="http://schemas.microsoft.com/office/drawing/2014/main" id="{F7865895-DF58-4C01-8F3F-17D90E36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0001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Four pages now do the explanation and trust-building that the old site leaves to the front desk.</a:t>
            </a:r>
          </a:p>
        </p:txBody>
      </p:sp>
      <p:cxnSp>
        <p:nvCxnSpPr>
          <p:cNvPr id="67" name="s6-top-0"/>
          <p:cNvCxnSpPr/>
          <p:nvPr/>
        </p:nvCxnSpPr>
        <p:spPr>
          <a:xfrm xmlns:a="http://schemas.openxmlformats.org/drawingml/2006/main">
            <a:off x="495300" y="200025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5E76"/>
            </a:solidFill>
            <a:prstDash val="solid"/>
          </a:ln>
        </p:spPr>
      </p:cxnSp>
      <p:sp>
        <p:nvSpPr>
          <p:cNvPr id="5" name="s6-num-0">
            <a:extLst xmlns:a="http://schemas.openxmlformats.org/drawingml/2006/main">
              <a:ext uri="{FF2B5EF4-FFF2-40B4-BE49-F238E27FC236}">
                <a16:creationId xmlns:a16="http://schemas.microsoft.com/office/drawing/2014/main" id="{992A978B-94F7-451A-964B-52E12E8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6" name="s6-title-0">
            <a:extLst xmlns:a="http://schemas.openxmlformats.org/drawingml/2006/main">
              <a:ext uri="{FF2B5EF4-FFF2-40B4-BE49-F238E27FC236}">
                <a16:creationId xmlns:a16="http://schemas.microsoft.com/office/drawing/2014/main" id="{A2C2BF0F-168A-41C2-B270-0A79761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526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Heart Care</a:t>
            </a:r>
          </a:p>
        </p:txBody>
      </p:sp>
      <p:sp>
        <p:nvSpPr>
          <p:cNvPr id="7" name="s6-copy-0">
            <a:extLst xmlns:a="http://schemas.openxmlformats.org/drawingml/2006/main">
              <a:ext uri="{FF2B5EF4-FFF2-40B4-BE49-F238E27FC236}">
                <a16:creationId xmlns:a16="http://schemas.microsoft.com/office/drawing/2014/main" id="{7766649E-6315-403C-AA57-2CAE554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8605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1,924 words on warning signs, tests and treatments, with MedicalWebPage + FAQ schema.</a:t>
            </a:r>
          </a:p>
        </p:txBody>
      </p:sp>
      <p:cxnSp>
        <p:nvCxnSpPr>
          <p:cNvPr id="71" name="s6-top-1"/>
          <p:cNvCxnSpPr/>
          <p:nvPr/>
        </p:nvCxnSpPr>
        <p:spPr>
          <a:xfrm xmlns:a="http://schemas.openxmlformats.org/drawingml/2006/main">
            <a:off x="6191250" y="200025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9" name="s6-num-1">
            <a:extLst xmlns:a="http://schemas.openxmlformats.org/drawingml/2006/main">
              <a:ext uri="{FF2B5EF4-FFF2-40B4-BE49-F238E27FC236}">
                <a16:creationId xmlns:a16="http://schemas.microsoft.com/office/drawing/2014/main" id="{6FB3FCC5-E297-4EEB-9870-77A52331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s6-title-1">
            <a:extLst xmlns:a="http://schemas.openxmlformats.org/drawingml/2006/main">
              <a:ext uri="{FF2B5EF4-FFF2-40B4-BE49-F238E27FC236}">
                <a16:creationId xmlns:a16="http://schemas.microsoft.com/office/drawing/2014/main" id="{E0653687-33A3-4EB4-A86C-D0B71AA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526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EECP</a:t>
            </a:r>
          </a:p>
        </p:txBody>
      </p:sp>
      <p:sp>
        <p:nvSpPr>
          <p:cNvPr id="11" name="s6-copy-1">
            <a:extLst xmlns:a="http://schemas.openxmlformats.org/drawingml/2006/main">
              <a:ext uri="{FF2B5EF4-FFF2-40B4-BE49-F238E27FC236}">
                <a16:creationId xmlns:a16="http://schemas.microsoft.com/office/drawing/2014/main" id="{15212E96-8F23-4148-BEA9-DAA9CF8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1,607 words on suitability, benefits, limits and alternatives, backed by 10 evidence sources.</a:t>
            </a:r>
          </a:p>
        </p:txBody>
      </p:sp>
      <p:cxnSp>
        <p:nvCxnSpPr>
          <p:cNvPr id="75" name="s6-top-2"/>
          <p:cNvCxnSpPr/>
          <p:nvPr/>
        </p:nvCxnSpPr>
        <p:spPr>
          <a:xfrm xmlns:a="http://schemas.openxmlformats.org/drawingml/2006/main">
            <a:off x="495300" y="400050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3" name="s6-num-2">
            <a:extLst xmlns:a="http://schemas.openxmlformats.org/drawingml/2006/main">
              <a:ext uri="{FF2B5EF4-FFF2-40B4-BE49-F238E27FC236}">
                <a16:creationId xmlns:a16="http://schemas.microsoft.com/office/drawing/2014/main" id="{E6F3EF98-AFC6-4A20-A1DA-F9BCE08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4" name="s6-title-2">
            <a:extLst xmlns:a="http://schemas.openxmlformats.org/drawingml/2006/main">
              <a:ext uri="{FF2B5EF4-FFF2-40B4-BE49-F238E27FC236}">
                <a16:creationId xmlns:a16="http://schemas.microsoft.com/office/drawing/2014/main" id="{242361F7-A074-4D2A-B0E5-21C7CAC3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Doctors</a:t>
            </a:r>
          </a:p>
        </p:txBody>
      </p:sp>
      <p:sp>
        <p:nvSpPr>
          <p:cNvPr id="15" name="s6-copy-2">
            <a:extLst xmlns:a="http://schemas.openxmlformats.org/drawingml/2006/main">
              <a:ext uri="{FF2B5EF4-FFF2-40B4-BE49-F238E27FC236}">
                <a16:creationId xmlns:a16="http://schemas.microsoft.com/office/drawing/2014/main" id="{DB9E111F-D65F-4DFF-8EEF-6F1DBB6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8630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16 specialists across 11 departments, with qualifications, focus and a direct booking path.</a:t>
            </a:r>
          </a:p>
        </p:txBody>
      </p:sp>
      <p:cxnSp>
        <p:nvCxnSpPr>
          <p:cNvPr id="79" name="s6-top-3"/>
          <p:cNvCxnSpPr/>
          <p:nvPr/>
        </p:nvCxnSpPr>
        <p:spPr>
          <a:xfrm xmlns:a="http://schemas.openxmlformats.org/drawingml/2006/main">
            <a:off x="6191250" y="4000500"/>
            <a:ext cx="5143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7" name="s6-num-3">
            <a:extLst xmlns:a="http://schemas.openxmlformats.org/drawingml/2006/main">
              <a:ext uri="{FF2B5EF4-FFF2-40B4-BE49-F238E27FC236}">
                <a16:creationId xmlns:a16="http://schemas.microsoft.com/office/drawing/2014/main" id="{2EFAF1A0-84AF-47C3-B6CE-67176FE8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66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s6-title-3">
            <a:extLst xmlns:a="http://schemas.openxmlformats.org/drawingml/2006/main">
              <a:ext uri="{FF2B5EF4-FFF2-40B4-BE49-F238E27FC236}">
                <a16:creationId xmlns:a16="http://schemas.microsoft.com/office/drawing/2014/main" id="{43110903-6B30-48AD-8744-8B6DF11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5290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Local discovery</a:t>
            </a:r>
          </a:p>
        </p:txBody>
      </p:sp>
      <p:sp>
        <p:nvSpPr>
          <p:cNvPr id="19" name="s6-copy-3">
            <a:extLst xmlns:a="http://schemas.openxmlformats.org/drawingml/2006/main">
              <a:ext uri="{FF2B5EF4-FFF2-40B4-BE49-F238E27FC236}">
                <a16:creationId xmlns:a16="http://schemas.microsoft.com/office/drawing/2014/main" id="{73731F89-045C-4680-81D0-25E8C9C5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86300"/>
            <a:ext cx="4095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Madhurawada NAP, directions, clean URLs, sitemap and MedicalClinic schema.</a:t>
            </a:r>
          </a:p>
        </p:txBody>
      </p:sp>
      <p:cxnSp>
        <p:nvCxnSpPr>
          <p:cNvPr id="83" name="footer-rule-6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21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A2A521D1-8120-4E39-8830-349CA3C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22" name="footer-no-6">
            <a:extLst xmlns:a="http://schemas.openxmlformats.org/drawingml/2006/main">
              <a:ext uri="{FF2B5EF4-FFF2-40B4-BE49-F238E27FC236}">
                <a16:creationId xmlns:a16="http://schemas.microsoft.com/office/drawing/2014/main" id="{E5922E68-CA18-4AD4-A2CF-3713517B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3" name="source-6">
            <a:extLst xmlns:a="http://schemas.openxmlformats.org/drawingml/2006/main">
              <a:ext uri="{FF2B5EF4-FFF2-40B4-BE49-F238E27FC236}">
                <a16:creationId xmlns:a16="http://schemas.microsoft.com/office/drawing/2014/main" id="{FC3FADFA-6A96-4C9D-8C96-A12629E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redesigned local build audit · 18 Jul 2026</a:t>
            </a:r>
          </a:p>
        </p:txBody>
      </p:sp>
    </p:spTree>
    <p:extLst>
      <p:ext uri="{BB962C8B-B14F-4D97-AF65-F5344CB8AC3E}">
        <p14:creationId xmlns:p14="http://schemas.microsoft.com/office/powerpoint/2010/main" val="1851948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4-eyebrow">
            <a:extLst xmlns:a="http://schemas.openxmlformats.org/drawingml/2006/main">
              <a:ext uri="{FF2B5EF4-FFF2-40B4-BE49-F238E27FC236}">
                <a16:creationId xmlns:a16="http://schemas.microsoft.com/office/drawing/2014/main" id="{39E4681B-AD07-4398-9E4A-D3FAACB2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THE REDESIGNED JOURNEY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A7A6070D-C074-4564-A2D3-594DA67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new website sells trust before the appointment.</a:t>
            </a:r>
          </a:p>
        </p:txBody>
      </p:sp>
      <p:sp>
        <p:nvSpPr>
          <p:cNvPr id="3" name="s4-old-band">
            <a:extLst xmlns:a="http://schemas.openxmlformats.org/drawingml/2006/main">
              <a:ext uri="{FF2B5EF4-FFF2-40B4-BE49-F238E27FC236}">
                <a16:creationId xmlns:a16="http://schemas.microsoft.com/office/drawing/2014/main" id="{A79B8C54-FAA9-4FAE-864C-E847C8F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201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4-old-label">
            <a:extLst xmlns:a="http://schemas.openxmlformats.org/drawingml/2006/main">
              <a:ext uri="{FF2B5EF4-FFF2-40B4-BE49-F238E27FC236}">
                <a16:creationId xmlns:a16="http://schemas.microsoft.com/office/drawing/2014/main" id="{3AE66963-EF40-4054-A144-4B28C5D5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OLD SEQUENCE</a:t>
            </a:r>
          </a:p>
        </p:txBody>
      </p:sp>
      <p:sp>
        <p:nvSpPr>
          <p:cNvPr id="5" name="s4-old-flow">
            <a:extLst xmlns:a="http://schemas.openxmlformats.org/drawingml/2006/main">
              <a:ext uri="{FF2B5EF4-FFF2-40B4-BE49-F238E27FC236}">
                <a16:creationId xmlns:a16="http://schemas.microsoft.com/office/drawing/2014/main" id="{9DEC643E-C93A-4F1D-8494-B1E4DE9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Generic promise  →  service list  →  appointment form</a:t>
            </a:r>
          </a:p>
        </p:txBody>
      </p:sp>
      <p:cxnSp>
        <p:nvCxnSpPr>
          <p:cNvPr id="69" name="s4-line"/>
          <p:cNvCxnSpPr/>
          <p:nvPr/>
        </p:nvCxnSpPr>
        <p:spPr>
          <a:xfrm xmlns:a="http://schemas.openxmlformats.org/drawingml/2006/main">
            <a:off x="495300" y="33337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41"/>
            </a:solidFill>
            <a:prstDash val="solid"/>
          </a:ln>
        </p:spPr>
      </p:cxnSp>
      <p:sp>
        <p:nvSpPr>
          <p:cNvPr id="7" name="s4-dot-0">
            <a:extLst xmlns:a="http://schemas.openxmlformats.org/drawingml/2006/main">
              <a:ext uri="{FF2B5EF4-FFF2-40B4-BE49-F238E27FC236}">
                <a16:creationId xmlns:a16="http://schemas.microsoft.com/office/drawing/2014/main" id="{ECFBD870-A97A-42D2-9D51-09AE208B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num-0">
            <a:extLst xmlns:a="http://schemas.openxmlformats.org/drawingml/2006/main">
              <a:ext uri="{FF2B5EF4-FFF2-40B4-BE49-F238E27FC236}">
                <a16:creationId xmlns:a16="http://schemas.microsoft.com/office/drawing/2014/main" id="{80C28DE6-EE23-4614-8565-0F9BFDE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s4-title-0">
            <a:extLst xmlns:a="http://schemas.openxmlformats.org/drawingml/2006/main">
              <a:ext uri="{FF2B5EF4-FFF2-40B4-BE49-F238E27FC236}">
                <a16:creationId xmlns:a16="http://schemas.microsoft.com/office/drawing/2014/main" id="{34E004EE-A161-470E-8E6D-91B4A1C9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Find</a:t>
            </a:r>
          </a:p>
        </p:txBody>
      </p:sp>
      <p:sp>
        <p:nvSpPr>
          <p:cNvPr id="10" name="s4-copy-0">
            <a:extLst xmlns:a="http://schemas.openxmlformats.org/drawingml/2006/main">
              <a:ext uri="{FF2B5EF4-FFF2-40B4-BE49-F238E27FC236}">
                <a16:creationId xmlns:a16="http://schemas.microsoft.com/office/drawing/2014/main" id="{2E6262C5-4DA5-4D94-B85F-C882879D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Dedicated Heart, EECP, Doctors and service pages match what patients actually search.</a:t>
            </a:r>
          </a:p>
        </p:txBody>
      </p:sp>
      <p:sp>
        <p:nvSpPr>
          <p:cNvPr id="11" name="s4-dot-1">
            <a:extLst xmlns:a="http://schemas.openxmlformats.org/drawingml/2006/main">
              <a:ext uri="{FF2B5EF4-FFF2-40B4-BE49-F238E27FC236}">
                <a16:creationId xmlns:a16="http://schemas.microsoft.com/office/drawing/2014/main" id="{DE74BF82-F0A9-44B9-AF42-9606234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num-1">
            <a:extLst xmlns:a="http://schemas.openxmlformats.org/drawingml/2006/main">
              <a:ext uri="{FF2B5EF4-FFF2-40B4-BE49-F238E27FC236}">
                <a16:creationId xmlns:a16="http://schemas.microsoft.com/office/drawing/2014/main" id="{373DBF0E-5886-4E8E-B048-AFDAB556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4-title-1">
            <a:extLst xmlns:a="http://schemas.openxmlformats.org/drawingml/2006/main">
              <a:ext uri="{FF2B5EF4-FFF2-40B4-BE49-F238E27FC236}">
                <a16:creationId xmlns:a16="http://schemas.microsoft.com/office/drawing/2014/main" id="{0D591FF6-5B53-459A-AD78-3B82D96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14" name="s4-copy-1">
            <a:extLst xmlns:a="http://schemas.openxmlformats.org/drawingml/2006/main">
              <a:ext uri="{FF2B5EF4-FFF2-40B4-BE49-F238E27FC236}">
                <a16:creationId xmlns:a16="http://schemas.microsoft.com/office/drawing/2014/main" id="{1CE8D974-0ABE-4796-AA7B-F3CA70BA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Qualifications, evidence, suitability and limits answer: “Why should I choose Rise?”</a:t>
            </a:r>
          </a:p>
        </p:txBody>
      </p:sp>
      <p:sp>
        <p:nvSpPr>
          <p:cNvPr id="15" name="s4-dot-2">
            <a:extLst xmlns:a="http://schemas.openxmlformats.org/drawingml/2006/main">
              <a:ext uri="{FF2B5EF4-FFF2-40B4-BE49-F238E27FC236}">
                <a16:creationId xmlns:a16="http://schemas.microsoft.com/office/drawing/2014/main" id="{12CD3959-ADB4-438C-8651-3954386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num-2">
            <a:extLst xmlns:a="http://schemas.openxmlformats.org/drawingml/2006/main">
              <a:ext uri="{FF2B5EF4-FFF2-40B4-BE49-F238E27FC236}">
                <a16:creationId xmlns:a16="http://schemas.microsoft.com/office/drawing/2014/main" id="{DF85818E-E7CF-4314-ADD5-8EA1A0E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s4-title-2">
            <a:extLst xmlns:a="http://schemas.openxmlformats.org/drawingml/2006/main">
              <a:ext uri="{FF2B5EF4-FFF2-40B4-BE49-F238E27FC236}">
                <a16:creationId xmlns:a16="http://schemas.microsoft.com/office/drawing/2014/main" id="{E7DFA5E1-3D17-4DCC-89E8-E68268E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Act</a:t>
            </a:r>
          </a:p>
        </p:txBody>
      </p:sp>
      <p:sp>
        <p:nvSpPr>
          <p:cNvPr id="18" name="s4-copy-2">
            <a:extLst xmlns:a="http://schemas.openxmlformats.org/drawingml/2006/main">
              <a:ext uri="{FF2B5EF4-FFF2-40B4-BE49-F238E27FC236}">
                <a16:creationId xmlns:a16="http://schemas.microsoft.com/office/drawing/2014/main" id="{732C95CD-7FF1-49EB-B321-FA688B9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Phone, WhatsApp, directions and booking turn confidence into a measurable enquiry.</a:t>
            </a:r>
          </a:p>
        </p:txBody>
      </p:sp>
      <p:sp>
        <p:nvSpPr>
          <p:cNvPr id="19" name="s4-close">
            <a:extLst xmlns:a="http://schemas.openxmlformats.org/drawingml/2006/main">
              <a:ext uri="{FF2B5EF4-FFF2-40B4-BE49-F238E27FC236}">
                <a16:creationId xmlns:a16="http://schemas.microsoft.com/office/drawing/2014/main" id="{87D8A5F7-CDAF-4806-A836-3D4AB89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website does the explanation and trust-building before the front desk receives the enquiry.</a:t>
            </a:r>
          </a:p>
        </p:txBody>
      </p:sp>
      <p:cxnSp>
        <p:nvCxnSpPr>
          <p:cNvPr id="83" name="footer-rule-4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21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73CE25F-3E69-4366-A1EE-E11D6D5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22" name="footer-no-4">
            <a:extLst xmlns:a="http://schemas.openxmlformats.org/drawingml/2006/main">
              <a:ext uri="{FF2B5EF4-FFF2-40B4-BE49-F238E27FC236}">
                <a16:creationId xmlns:a16="http://schemas.microsoft.com/office/drawing/2014/main" id="{D3FEA910-E8C6-48B2-B6DB-7EE21FF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3" name="source-4">
            <a:extLst xmlns:a="http://schemas.openxmlformats.org/drawingml/2006/main">
              <a:ext uri="{FF2B5EF4-FFF2-40B4-BE49-F238E27FC236}">
                <a16:creationId xmlns:a16="http://schemas.microsoft.com/office/drawing/2014/main" id="{D409E5D4-CA60-41C9-BFB3-8E7A2B07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redesigned page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56055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9-coral-bar">
            <a:extLst xmlns:a="http://schemas.openxmlformats.org/drawingml/2006/main">
              <a:ext uri="{FF2B5EF4-FFF2-40B4-BE49-F238E27FC236}">
                <a16:creationId xmlns:a16="http://schemas.microsoft.com/office/drawing/2014/main" id="{C617ABB0-ECD5-4A5B-963D-12B9FDB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F0B62906-8F85-4081-8DE8-4CAD718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02FBFAC3-FB01-4019-A4FC-DFB5634B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redesigned website—and the SEO launch that makes it pay.</a:t>
            </a:r>
          </a:p>
        </p:txBody>
      </p:sp>
      <p:sp>
        <p:nvSpPr>
          <p:cNvPr id="4" name="s9-subtitle">
            <a:extLst xmlns:a="http://schemas.openxmlformats.org/drawingml/2006/main">
              <a:ext uri="{FF2B5EF4-FFF2-40B4-BE49-F238E27FC236}">
                <a16:creationId xmlns:a16="http://schemas.microsoft.com/office/drawing/2014/main" id="{FCBC10C5-CBDE-4231-93EE-E99D3C1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8096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CDECE6"/>
                </a:solidFill>
                <a:latin typeface="Arial"/>
                <a:ea typeface="Arial"/>
                <a:cs typeface="Arial"/>
              </a:defRPr>
            </a:pPr>
            <a:r>
              <a:t>Publish the content, protect every legacy URL, complete doctor and local schema, and measure calls, WhatsApp, directions, and bookings.</a:t>
            </a:r>
          </a:p>
        </p:txBody>
      </p:sp>
      <p:sp>
        <p:nvSpPr>
          <p:cNvPr id="5" name="s9-actions">
            <a:extLst xmlns:a="http://schemas.openxmlformats.org/drawingml/2006/main">
              <a:ext uri="{FF2B5EF4-FFF2-40B4-BE49-F238E27FC236}">
                <a16:creationId xmlns:a16="http://schemas.microsoft.com/office/drawing/2014/main" id="{1B6005E3-169E-4D1A-BABF-8A3944A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00550"/>
            <a:ext cx="2000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  Publish
2  Protect
3  Grow</a:t>
            </a:r>
          </a:p>
        </p:txBody>
      </p:sp>
      <p:cxnSp>
        <p:nvCxnSpPr>
          <p:cNvPr id="26" name="s9-footer-rule"/>
          <p:cNvCxnSpPr/>
          <p:nvPr/>
        </p:nvCxnSpPr>
        <p:spPr>
          <a:xfrm xmlns:a="http://schemas.openxmlformats.org/drawingml/2006/main">
            <a:off x="876300" y="6000750"/>
            <a:ext cx="10534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B355A"/>
            </a:solidFill>
            <a:prstDash val="solid"/>
          </a:ln>
        </p:spPr>
      </p:cxnSp>
      <p:sp>
        <p:nvSpPr>
          <p:cNvPr id="7" name="s9-footer">
            <a:extLst xmlns:a="http://schemas.openxmlformats.org/drawingml/2006/main">
              <a:ext uri="{FF2B5EF4-FFF2-40B4-BE49-F238E27FC236}">
                <a16:creationId xmlns:a16="http://schemas.microsoft.com/office/drawing/2014/main" id="{8B8993B9-963C-442E-B04E-741CACF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8" name="s9-no">
            <a:extLst xmlns:a="http://schemas.openxmlformats.org/drawingml/2006/main">
              <a:ext uri="{FF2B5EF4-FFF2-40B4-BE49-F238E27FC236}">
                <a16:creationId xmlns:a16="http://schemas.microsoft.com/office/drawing/2014/main" id="{716CCDEF-D5D5-4C82-9FFB-47970B3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0537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2026-07-18T05:16:26.2420000Z</dcterms:created>
  <dcterms:modified xsi:type="dcterms:W3CDTF">2026-07-18T05:16:26.2420000Z</dcterms:modified>
</coreProperties>
</file>