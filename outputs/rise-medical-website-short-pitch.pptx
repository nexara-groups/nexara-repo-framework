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7eacea64f94cc5" /><Relationship Type="http://schemas.openxmlformats.org/officeDocument/2006/relationships/extended-properties" Target="/docProps/app.xml" Id="R98535620f39945f8" /><Relationship Type="http://schemas.openxmlformats.org/officeDocument/2006/relationships/officeDocument" Target="/ppt/presentation.xml" Id="Rd2f06f28bef842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b4b69ab2b14491"/>
  </p:sldMasterIdLst>
  <p:notesMasterIdLst>
    <p:notesMasterId xmlns:r="http://schemas.openxmlformats.org/officeDocument/2006/relationships" r:id="R1a88797e2ee44736"/>
  </p:notesMasterIdLst>
  <p:sldIdLst>
    <p:sldId xmlns:r="http://schemas.openxmlformats.org/officeDocument/2006/relationships" id="256" r:id="R6227729226fa4eb4"/>
    <p:sldId xmlns:r="http://schemas.openxmlformats.org/officeDocument/2006/relationships" id="257" r:id="R543924c6b42b4e48"/>
    <p:sldId xmlns:r="http://schemas.openxmlformats.org/officeDocument/2006/relationships" id="258" r:id="Rc0db7a5a31e64d51"/>
    <p:sldId xmlns:r="http://schemas.openxmlformats.org/officeDocument/2006/relationships" id="259" r:id="R7d590eea5b4a47e3"/>
    <p:sldId xmlns:r="http://schemas.openxmlformats.org/officeDocument/2006/relationships" id="260" r:id="R6c925de869b644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38e0a5496b4eec" /><Relationship Type="http://schemas.openxmlformats.org/officeDocument/2006/relationships/slideMaster" Target="/ppt/slideMasters/slideMaster1.xml" Id="Rdbb4b69ab2b14491" /><Relationship Type="http://schemas.openxmlformats.org/officeDocument/2006/relationships/notesMaster" Target="/ppt/notesMasters/notesMaster1.xml" Id="R1a88797e2ee44736" /><Relationship Type="http://schemas.openxmlformats.org/officeDocument/2006/relationships/presProps" Target="/ppt/presProps.xml" Id="Rd0533ee1b32042f0" /><Relationship Type="http://schemas.openxmlformats.org/officeDocument/2006/relationships/tableStyles" Target="/ppt/tableStyles.xml" Id="R73653c3c4a274535" /><Relationship Type="http://schemas.openxmlformats.org/officeDocument/2006/relationships/slide" Target="/ppt/slides/slide1.xml" Id="R6227729226fa4eb4" /><Relationship Type="http://schemas.openxmlformats.org/officeDocument/2006/relationships/slide" Target="/ppt/slides/slide2.xml" Id="R543924c6b42b4e48" /><Relationship Type="http://schemas.openxmlformats.org/officeDocument/2006/relationships/slide" Target="/ppt/slides/slide3.xml" Id="Rc0db7a5a31e64d51" /><Relationship Type="http://schemas.openxmlformats.org/officeDocument/2006/relationships/slide" Target="/ppt/slides/slide4.xml" Id="R7d590eea5b4a47e3" /><Relationship Type="http://schemas.openxmlformats.org/officeDocument/2006/relationships/slide" Target="/ppt/slides/slide5.xml" Id="R6c925de869b644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9313e3dd5143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7d81a472694e02" /><Relationship Type="http://schemas.openxmlformats.org/officeDocument/2006/relationships/notesMaster" Target="/ppt/notesMasters/notesMaster1.xml" Id="R3a2dfb306e9448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c159e3dbee4fe0" /><Relationship Type="http://schemas.openxmlformats.org/officeDocument/2006/relationships/notesMaster" Target="/ppt/notesMasters/notesMaster1.xml" Id="Rcb14cdd7110541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b14d5cd84e4920" /><Relationship Type="http://schemas.openxmlformats.org/officeDocument/2006/relationships/notesMaster" Target="/ppt/notesMasters/notesMaster1.xml" Id="R7086f20d992e49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5a1efab67a45b8" /><Relationship Type="http://schemas.openxmlformats.org/officeDocument/2006/relationships/notesMaster" Target="/ppt/notesMasters/notesMaster1.xml" Id="R7baadfbae8464c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d10280d96e4d99" /><Relationship Type="http://schemas.openxmlformats.org/officeDocument/2006/relationships/notesMaster" Target="/ppt/notesMasters/notesMaster1.xml" Id="Ra0f9248b19c841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004b13d5d42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278e158d4d4e19" /><Relationship Type="http://schemas.openxmlformats.org/officeDocument/2006/relationships/slideLayout" Target="/ppt/slideLayouts/slideLayout1.xml" Id="Rdc7d584022d84a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7d584022d84a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0681a53174ea7" /><Relationship Type="http://schemas.openxmlformats.org/officeDocument/2006/relationships/image" Target="/ppt/media/image.png" Id="Rfccb6379333c4ebf" /><Relationship Type="http://schemas.openxmlformats.org/officeDocument/2006/relationships/notesSlide" Target="/ppt/notesSlides/notesSlide1.xml" Id="Rd2c6705b62ad46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7ce0a7fdf4180" /><Relationship Type="http://schemas.openxmlformats.org/officeDocument/2006/relationships/image" Target="/ppt/media/image2.png" Id="Rd2ff95e76d4e40dd" /><Relationship Type="http://schemas.openxmlformats.org/officeDocument/2006/relationships/notesSlide" Target="/ppt/notesSlides/notesSlide2.xml" Id="Ra165fa82ffbe4c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593a97f244a23" /><Relationship Type="http://schemas.openxmlformats.org/officeDocument/2006/relationships/notesSlide" Target="/ppt/notesSlides/notesSlide3.xml" Id="Ra7f4169fc79143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a2d4aa3264da9" /><Relationship Type="http://schemas.openxmlformats.org/officeDocument/2006/relationships/image" Target="/ppt/media/image3.png" Id="Red82cb20ef924a0f" /><Relationship Type="http://schemas.openxmlformats.org/officeDocument/2006/relationships/notesSlide" Target="/ppt/notesSlides/notesSlide4.xml" Id="Ra78c71233d274c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1597232984a2a" /><Relationship Type="http://schemas.openxmlformats.org/officeDocument/2006/relationships/notesSlide" Target="/ppt/notesSlides/notesSlide5.xml" Id="R37af002e7bca4a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b6379333c4e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762125"/>
            <a:ext cx="50292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0A6DCDC-F077-4005-9989-15A27EC9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9525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179227D-374F-4168-A47B-E46F12DE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RISE MEDICAL HUB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455E815-D2E6-423B-A834-E6F30B0D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533400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Rise deserves a website as credible as its care.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E8BE2ED-3878-433C-B9C2-D575C9F8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5191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A clearer, more trusted digital front door for patients, clinicians, and growth.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E9CF480D-7682-48E9-BEF1-D22B661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DECISION DECK · 18 JULY 2026</a:t>
            </a:r>
          </a:p>
        </p:txBody>
      </p:sp>
      <p:cxnSp>
        <p:nvCxnSpPr>
          <p:cNvPr id="33" name="footer-rule-1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8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E308A205-5777-4376-8A70-B565AE44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9" name="footer-no-1">
            <a:extLst xmlns:a="http://schemas.openxmlformats.org/drawingml/2006/main">
              <a:ext uri="{FF2B5EF4-FFF2-40B4-BE49-F238E27FC236}">
                <a16:creationId xmlns:a16="http://schemas.microsoft.com/office/drawing/2014/main" id="{EF18CF63-FD31-4362-B2F8-1F879ADC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source-1">
            <a:extLst xmlns:a="http://schemas.openxmlformats.org/drawingml/2006/main">
              <a:ext uri="{FF2B5EF4-FFF2-40B4-BE49-F238E27FC236}">
                <a16:creationId xmlns:a16="http://schemas.microsoft.com/office/drawing/2014/main" id="{879815A6-32D0-4F1D-A894-1B1B4967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Redesigned staging site</a:t>
            </a:r>
          </a:p>
        </p:txBody>
      </p:sp>
    </p:spTree>
    <p:extLst>
      <p:ext uri="{BB962C8B-B14F-4D97-AF65-F5344CB8AC3E}">
        <p14:creationId xmlns:p14="http://schemas.microsoft.com/office/powerpoint/2010/main" val="568090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f95e76d4e40dd"/>
          <a:srcRect xmlns:a="http://schemas.openxmlformats.org/drawingml/2006/main" l="5669" t="0" r="56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19250"/>
            <a:ext cx="5810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68FFDAF7-F334-495E-8BF4-E294C1E7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CURRENT STATE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CB1480BE-818A-45D5-ACE1-FD7ADE9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current website makes Rise look generic.</a:t>
            </a:r>
          </a:p>
        </p:txBody>
      </p:sp>
      <p:sp>
        <p:nvSpPr>
          <p:cNvPr id="4" name="s2-side-panel">
            <a:extLst xmlns:a="http://schemas.openxmlformats.org/drawingml/2006/main">
              <a:ext uri="{FF2B5EF4-FFF2-40B4-BE49-F238E27FC236}">
                <a16:creationId xmlns:a16="http://schemas.microsoft.com/office/drawing/2014/main" id="{4200DD81-BC6F-48B1-920B-A291C75A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991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-coral-mark">
            <a:extLst xmlns:a="http://schemas.openxmlformats.org/drawingml/2006/main">
              <a:ext uri="{FF2B5EF4-FFF2-40B4-BE49-F238E27FC236}">
                <a16:creationId xmlns:a16="http://schemas.microsoft.com/office/drawing/2014/main" id="{31432D9B-9FD9-4A32-B3DD-24D9C67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2-h1">
            <a:extLst xmlns:a="http://schemas.openxmlformats.org/drawingml/2006/main">
              <a:ext uri="{FF2B5EF4-FFF2-40B4-BE49-F238E27FC236}">
                <a16:creationId xmlns:a16="http://schemas.microsoft.com/office/drawing/2014/main" id="{37D2AF57-6C44-4344-A4BE-AC2308D0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24050"/>
            <a:ext cx="409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A generic promise</a:t>
            </a:r>
          </a:p>
        </p:txBody>
      </p:sp>
      <p:sp>
        <p:nvSpPr>
          <p:cNvPr id="7" name="s2-b1">
            <a:extLst xmlns:a="http://schemas.openxmlformats.org/drawingml/2006/main">
              <a:ext uri="{FF2B5EF4-FFF2-40B4-BE49-F238E27FC236}">
                <a16:creationId xmlns:a16="http://schemas.microsoft.com/office/drawing/2014/main" id="{B61CC313-2D95-4CEC-A513-7227B446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62200"/>
            <a:ext cx="4000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“Your Health is our Priority” could belong to almost any clinic. It does not explain Rise’s connected care, specialists, or heart-care focus.</a:t>
            </a:r>
          </a:p>
        </p:txBody>
      </p:sp>
      <p:cxnSp>
        <p:nvCxnSpPr>
          <p:cNvPr id="55" name="s2-r1"/>
          <p:cNvCxnSpPr/>
          <p:nvPr/>
        </p:nvCxnSpPr>
        <p:spPr>
          <a:xfrm xmlns:a="http://schemas.openxmlformats.org/drawingml/2006/main">
            <a:off x="7124700" y="3381375"/>
            <a:ext cx="4000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9" name="s2-h2">
            <a:extLst xmlns:a="http://schemas.openxmlformats.org/drawingml/2006/main">
              <a:ext uri="{FF2B5EF4-FFF2-40B4-BE49-F238E27FC236}">
                <a16:creationId xmlns:a16="http://schemas.microsoft.com/office/drawing/2014/main" id="{E77CD9CB-4BC2-43FE-B7B2-D81C9FF9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0450"/>
            <a:ext cx="409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Trust arrives too late</a:t>
            </a:r>
          </a:p>
        </p:txBody>
      </p:sp>
      <p:sp>
        <p:nvSpPr>
          <p:cNvPr id="10" name="s2-b2">
            <a:extLst xmlns:a="http://schemas.openxmlformats.org/drawingml/2006/main">
              <a:ext uri="{FF2B5EF4-FFF2-40B4-BE49-F238E27FC236}">
                <a16:creationId xmlns:a16="http://schemas.microsoft.com/office/drawing/2014/main" id="{5E708EA9-D668-4094-B155-DA3194C7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4000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Doctors, evidence, suitability, and patient expectations are missing from the first decision journey.</a:t>
            </a:r>
          </a:p>
        </p:txBody>
      </p:sp>
      <p:cxnSp>
        <p:nvCxnSpPr>
          <p:cNvPr id="58" name="s2-r2"/>
          <p:cNvCxnSpPr/>
          <p:nvPr/>
        </p:nvCxnSpPr>
        <p:spPr>
          <a:xfrm xmlns:a="http://schemas.openxmlformats.org/drawingml/2006/main">
            <a:off x="7124700" y="4876800"/>
            <a:ext cx="40005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2" name="s2-h3">
            <a:extLst xmlns:a="http://schemas.openxmlformats.org/drawingml/2006/main">
              <a:ext uri="{FF2B5EF4-FFF2-40B4-BE49-F238E27FC236}">
                <a16:creationId xmlns:a16="http://schemas.microsoft.com/office/drawing/2014/main" id="{8BE95024-AEAF-415D-9BFE-E344B556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768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The result</a:t>
            </a:r>
          </a:p>
        </p:txBody>
      </p:sp>
      <p:sp>
        <p:nvSpPr>
          <p:cNvPr id="13" name="s2-b3">
            <a:extLst xmlns:a="http://schemas.openxmlformats.org/drawingml/2006/main">
              <a:ext uri="{FF2B5EF4-FFF2-40B4-BE49-F238E27FC236}">
                <a16:creationId xmlns:a16="http://schemas.microsoft.com/office/drawing/2014/main" id="{16D9D52D-7947-4A79-957D-A5D506F7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91150"/>
            <a:ext cx="4000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website lists services, but does not yet build a reason to choose Rise.</a:t>
            </a:r>
          </a:p>
        </p:txBody>
      </p:sp>
      <p:cxnSp>
        <p:nvCxnSpPr>
          <p:cNvPr id="61" name="footer-rule-2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5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1AC1157F-6422-495E-A32C-D78DC9EA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16" name="footer-no-2">
            <a:extLst xmlns:a="http://schemas.openxmlformats.org/drawingml/2006/main">
              <a:ext uri="{FF2B5EF4-FFF2-40B4-BE49-F238E27FC236}">
                <a16:creationId xmlns:a16="http://schemas.microsoft.com/office/drawing/2014/main" id="{CFF28970-F1DA-48C4-9716-5FC5E38B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7" name="source-2">
            <a:extLst xmlns:a="http://schemas.openxmlformats.org/drawingml/2006/main">
              <a:ext uri="{FF2B5EF4-FFF2-40B4-BE49-F238E27FC236}">
                <a16:creationId xmlns:a16="http://schemas.microsoft.com/office/drawing/2014/main" id="{DF32C733-E696-40BD-BF5F-FDDE5AF8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risemedicalhub.com · inspected 18 Jul 2026</a:t>
            </a:r>
          </a:p>
        </p:txBody>
      </p:sp>
    </p:spTree>
    <p:extLst>
      <p:ext uri="{BB962C8B-B14F-4D97-AF65-F5344CB8AC3E}">
        <p14:creationId xmlns:p14="http://schemas.microsoft.com/office/powerpoint/2010/main" val="802292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4-eyebrow">
            <a:extLst xmlns:a="http://schemas.openxmlformats.org/drawingml/2006/main">
              <a:ext uri="{FF2B5EF4-FFF2-40B4-BE49-F238E27FC236}">
                <a16:creationId xmlns:a16="http://schemas.microsoft.com/office/drawing/2014/main" id="{39E4681B-AD07-4398-9E4A-D3FAACB2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THE REDESIGNED JOURNEY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A7A6070D-C074-4564-A2D3-594DA676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redesigned site turns uncertainty into action.</a:t>
            </a:r>
          </a:p>
        </p:txBody>
      </p:sp>
      <p:sp>
        <p:nvSpPr>
          <p:cNvPr id="3" name="s4-old-band">
            <a:extLst xmlns:a="http://schemas.openxmlformats.org/drawingml/2006/main">
              <a:ext uri="{FF2B5EF4-FFF2-40B4-BE49-F238E27FC236}">
                <a16:creationId xmlns:a16="http://schemas.microsoft.com/office/drawing/2014/main" id="{A79B8C54-FAA9-4FAE-864C-E847C8FC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1201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4-old-label">
            <a:extLst xmlns:a="http://schemas.openxmlformats.org/drawingml/2006/main">
              <a:ext uri="{FF2B5EF4-FFF2-40B4-BE49-F238E27FC236}">
                <a16:creationId xmlns:a16="http://schemas.microsoft.com/office/drawing/2014/main" id="{3AE66963-EF40-4054-A144-4B28C5D5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OLD SEQUENCE</a:t>
            </a:r>
          </a:p>
        </p:txBody>
      </p:sp>
      <p:sp>
        <p:nvSpPr>
          <p:cNvPr id="5" name="s4-old-flow">
            <a:extLst xmlns:a="http://schemas.openxmlformats.org/drawingml/2006/main">
              <a:ext uri="{FF2B5EF4-FFF2-40B4-BE49-F238E27FC236}">
                <a16:creationId xmlns:a16="http://schemas.microsoft.com/office/drawing/2014/main" id="{9DEC643E-C93A-4F1D-8494-B1E4DE98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Generic hero  →  appointment form  →  repeated services  →  generic about</a:t>
            </a:r>
          </a:p>
        </p:txBody>
      </p:sp>
      <p:cxnSp>
        <p:nvCxnSpPr>
          <p:cNvPr id="69" name="s4-line"/>
          <p:cNvCxnSpPr/>
          <p:nvPr/>
        </p:nvCxnSpPr>
        <p:spPr>
          <a:xfrm xmlns:a="http://schemas.openxmlformats.org/drawingml/2006/main">
            <a:off x="495300" y="33337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441"/>
            </a:solidFill>
            <a:prstDash val="solid"/>
          </a:ln>
        </p:spPr>
      </p:cxnSp>
      <p:sp>
        <p:nvSpPr>
          <p:cNvPr id="7" name="s4-dot-0">
            <a:extLst xmlns:a="http://schemas.openxmlformats.org/drawingml/2006/main">
              <a:ext uri="{FF2B5EF4-FFF2-40B4-BE49-F238E27FC236}">
                <a16:creationId xmlns:a16="http://schemas.microsoft.com/office/drawing/2014/main" id="{ECFBD870-A97A-42D2-9D51-09AE208B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num-0">
            <a:extLst xmlns:a="http://schemas.openxmlformats.org/drawingml/2006/main">
              <a:ext uri="{FF2B5EF4-FFF2-40B4-BE49-F238E27FC236}">
                <a16:creationId xmlns:a16="http://schemas.microsoft.com/office/drawing/2014/main" id="{80C28DE6-EE23-4614-8565-0F9BFDE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9" name="s4-title-0">
            <a:extLst xmlns:a="http://schemas.openxmlformats.org/drawingml/2006/main">
              <a:ext uri="{FF2B5EF4-FFF2-40B4-BE49-F238E27FC236}">
                <a16:creationId xmlns:a16="http://schemas.microsoft.com/office/drawing/2014/main" id="{34E004EE-A161-470E-8E6D-91B4A1C9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Understand</a:t>
            </a:r>
          </a:p>
        </p:txBody>
      </p:sp>
      <p:sp>
        <p:nvSpPr>
          <p:cNvPr id="10" name="s4-copy-0">
            <a:extLst xmlns:a="http://schemas.openxmlformats.org/drawingml/2006/main">
              <a:ext uri="{FF2B5EF4-FFF2-40B4-BE49-F238E27FC236}">
                <a16:creationId xmlns:a16="http://schemas.microsoft.com/office/drawing/2014/main" id="{2E6262C5-4DA5-4D94-B85F-C882879D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304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A clear local promise, four care pathways, and plain-language explanations answer: “Can Rise help me?”</a:t>
            </a:r>
          </a:p>
        </p:txBody>
      </p:sp>
      <p:sp>
        <p:nvSpPr>
          <p:cNvPr id="11" name="s4-dot-1">
            <a:extLst xmlns:a="http://schemas.openxmlformats.org/drawingml/2006/main">
              <a:ext uri="{FF2B5EF4-FFF2-40B4-BE49-F238E27FC236}">
                <a16:creationId xmlns:a16="http://schemas.microsoft.com/office/drawing/2014/main" id="{DE74BF82-F0A9-44B9-AF42-96062347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4-num-1">
            <a:extLst xmlns:a="http://schemas.openxmlformats.org/drawingml/2006/main">
              <a:ext uri="{FF2B5EF4-FFF2-40B4-BE49-F238E27FC236}">
                <a16:creationId xmlns:a16="http://schemas.microsoft.com/office/drawing/2014/main" id="{373DBF0E-5886-4E8E-B048-AFDAB556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s4-title-1">
            <a:extLst xmlns:a="http://schemas.openxmlformats.org/drawingml/2006/main">
              <a:ext uri="{FF2B5EF4-FFF2-40B4-BE49-F238E27FC236}">
                <a16:creationId xmlns:a16="http://schemas.microsoft.com/office/drawing/2014/main" id="{0D591FF6-5B53-459A-AD78-3B82D962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33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Trust</a:t>
            </a:r>
          </a:p>
        </p:txBody>
      </p:sp>
      <p:sp>
        <p:nvSpPr>
          <p:cNvPr id="14" name="s4-copy-1">
            <a:extLst xmlns:a="http://schemas.openxmlformats.org/drawingml/2006/main">
              <a:ext uri="{FF2B5EF4-FFF2-40B4-BE49-F238E27FC236}">
                <a16:creationId xmlns:a16="http://schemas.microsoft.com/office/drawing/2014/main" id="{1CE8D974-0ABE-4796-AA7B-F3CA70BA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05300"/>
            <a:ext cx="304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Doctors, qualifications, evidence, suitability, limitations, and expectations answer: “Can I believe this?”</a:t>
            </a:r>
          </a:p>
        </p:txBody>
      </p:sp>
      <p:sp>
        <p:nvSpPr>
          <p:cNvPr id="15" name="s4-dot-2">
            <a:extLst xmlns:a="http://schemas.openxmlformats.org/drawingml/2006/main">
              <a:ext uri="{FF2B5EF4-FFF2-40B4-BE49-F238E27FC236}">
                <a16:creationId xmlns:a16="http://schemas.microsoft.com/office/drawing/2014/main" id="{12CD3959-ADB4-438C-8651-39543867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57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4-num-2">
            <a:extLst xmlns:a="http://schemas.openxmlformats.org/drawingml/2006/main">
              <a:ext uri="{FF2B5EF4-FFF2-40B4-BE49-F238E27FC236}">
                <a16:creationId xmlns:a16="http://schemas.microsoft.com/office/drawing/2014/main" id="{DF85818E-E7CF-4314-ADD5-8EA1A0E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76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7" name="s4-title-2">
            <a:extLst xmlns:a="http://schemas.openxmlformats.org/drawingml/2006/main">
              <a:ext uri="{FF2B5EF4-FFF2-40B4-BE49-F238E27FC236}">
                <a16:creationId xmlns:a16="http://schemas.microsoft.com/office/drawing/2014/main" id="{E7DFA5E1-3D17-4DCC-89E8-E68268E3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3143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Act</a:t>
            </a:r>
          </a:p>
        </p:txBody>
      </p:sp>
      <p:sp>
        <p:nvSpPr>
          <p:cNvPr id="18" name="s4-copy-2">
            <a:extLst xmlns:a="http://schemas.openxmlformats.org/drawingml/2006/main">
              <a:ext uri="{FF2B5EF4-FFF2-40B4-BE49-F238E27FC236}">
                <a16:creationId xmlns:a16="http://schemas.microsoft.com/office/drawing/2014/main" id="{732C95CD-7FF1-49EB-B321-FA688B99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3048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Phone, WhatsApp, directions, urgent guidance, and a transparent booking handoff answer: “What do I do next?”</a:t>
            </a:r>
          </a:p>
        </p:txBody>
      </p:sp>
      <p:sp>
        <p:nvSpPr>
          <p:cNvPr id="19" name="s4-close">
            <a:extLst xmlns:a="http://schemas.openxmlformats.org/drawingml/2006/main">
              <a:ext uri="{FF2B5EF4-FFF2-40B4-BE49-F238E27FC236}">
                <a16:creationId xmlns:a16="http://schemas.microsoft.com/office/drawing/2014/main" id="{87D8A5F7-CDAF-4806-A836-3D4AB897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The patient moves from uncertainty to a clear next step—without being rushed into a form.</a:t>
            </a:r>
          </a:p>
        </p:txBody>
      </p:sp>
      <p:cxnSp>
        <p:nvCxnSpPr>
          <p:cNvPr id="83" name="footer-rule-4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21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373CE25F-3E69-4366-A1EE-E11D6D58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22" name="footer-no-4">
            <a:extLst xmlns:a="http://schemas.openxmlformats.org/drawingml/2006/main">
              <a:ext uri="{FF2B5EF4-FFF2-40B4-BE49-F238E27FC236}">
                <a16:creationId xmlns:a16="http://schemas.microsoft.com/office/drawing/2014/main" id="{D3FEA910-E8C6-48B2-B6DB-7EE21FFB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23" name="source-4">
            <a:extLst xmlns:a="http://schemas.openxmlformats.org/drawingml/2006/main">
              <a:ext uri="{FF2B5EF4-FFF2-40B4-BE49-F238E27FC236}">
                <a16:creationId xmlns:a16="http://schemas.microsoft.com/office/drawing/2014/main" id="{D409E5D4-CA60-41C9-BFB3-8E7A2B07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redesigned staging site</a:t>
            </a:r>
          </a:p>
        </p:txBody>
      </p:sp>
    </p:spTree>
    <p:extLst>
      <p:ext uri="{BB962C8B-B14F-4D97-AF65-F5344CB8AC3E}">
        <p14:creationId xmlns:p14="http://schemas.microsoft.com/office/powerpoint/2010/main" val="1656055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2cb20ef924a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1809750"/>
            <a:ext cx="5181600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543E00F9-A9D8-4FA0-BAD0-64E8E74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45E76"/>
                </a:solidFill>
                <a:latin typeface="Arial"/>
                <a:ea typeface="Arial"/>
                <a:cs typeface="Arial"/>
              </a:defRPr>
            </a:pPr>
            <a:r>
              <a:t>SIGNATURE CARE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61BBFA5F-35C0-4B58-AE74-837E7679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2014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EECP proves the difference.</a:t>
            </a:r>
          </a:p>
        </p:txBody>
      </p:sp>
      <p:sp>
        <p:nvSpPr>
          <p:cNvPr id="4" name="s5-old-label">
            <a:extLst xmlns:a="http://schemas.openxmlformats.org/drawingml/2006/main">
              <a:ext uri="{FF2B5EF4-FFF2-40B4-BE49-F238E27FC236}">
                <a16:creationId xmlns:a16="http://schemas.microsoft.com/office/drawing/2014/main" id="{F36626D4-1FB7-4E63-A437-91D2B42F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CURRENT SITE</a:t>
            </a:r>
          </a:p>
        </p:txBody>
      </p:sp>
      <p:sp>
        <p:nvSpPr>
          <p:cNvPr id="5" name="s5-old">
            <a:extLst xmlns:a="http://schemas.openxmlformats.org/drawingml/2006/main">
              <a:ext uri="{FF2B5EF4-FFF2-40B4-BE49-F238E27FC236}">
                <a16:creationId xmlns:a16="http://schemas.microsoft.com/office/drawing/2014/main" id="{718D5A7F-0DC1-4662-890A-A58D91DE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533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B93C55"/>
                </a:solidFill>
                <a:latin typeface="Arial"/>
                <a:ea typeface="Arial"/>
                <a:cs typeface="Arial"/>
              </a:defRPr>
            </a:pPr>
            <a:r>
              <a:t>“Safe” · “improves heart function” · “no downtime”</a:t>
            </a:r>
          </a:p>
        </p:txBody>
      </p:sp>
      <p:sp>
        <p:nvSpPr>
          <p:cNvPr id="6" name="s5-old-copy">
            <a:extLst xmlns:a="http://schemas.openxmlformats.org/drawingml/2006/main">
              <a:ext uri="{FF2B5EF4-FFF2-40B4-BE49-F238E27FC236}">
                <a16:creationId xmlns:a16="http://schemas.microsoft.com/office/drawing/2014/main" id="{915B9F33-469B-4665-8412-B57972E2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5334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Benefits are presented without enough context about selection, contraindications, limits, or evidence.</a:t>
            </a:r>
          </a:p>
        </p:txBody>
      </p:sp>
      <p:cxnSp>
        <p:nvCxnSpPr>
          <p:cNvPr id="45" name="s5-rule"/>
          <p:cNvCxnSpPr/>
          <p:nvPr/>
        </p:nvCxnSpPr>
        <p:spPr>
          <a:xfrm xmlns:a="http://schemas.openxmlformats.org/drawingml/2006/main">
            <a:off x="495300" y="3619500"/>
            <a:ext cx="53340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8" name="s5-new-label">
            <a:extLst xmlns:a="http://schemas.openxmlformats.org/drawingml/2006/main">
              <a:ext uri="{FF2B5EF4-FFF2-40B4-BE49-F238E27FC236}">
                <a16:creationId xmlns:a16="http://schemas.microsoft.com/office/drawing/2014/main" id="{F14DFEC7-0157-4F40-BE81-009AA3FA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862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REDESIGNED EXPERIENCE</a:t>
            </a:r>
          </a:p>
        </p:txBody>
      </p:sp>
      <p:sp>
        <p:nvSpPr>
          <p:cNvPr id="9" name="s5-new">
            <a:extLst xmlns:a="http://schemas.openxmlformats.org/drawingml/2006/main">
              <a:ext uri="{FF2B5EF4-FFF2-40B4-BE49-F238E27FC236}">
                <a16:creationId xmlns:a16="http://schemas.microsoft.com/office/drawing/2014/main" id="{D9AC603D-D681-4655-95D6-5D2D5521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57675"/>
            <a:ext cx="5334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02441"/>
                </a:solidFill>
                <a:latin typeface="Arial"/>
                <a:ea typeface="Arial"/>
                <a:cs typeface="Arial"/>
              </a:defRPr>
            </a:pPr>
            <a:r>
              <a:t>Selected patient · monitored session · benefits and limits · other options · evidence</a:t>
            </a:r>
          </a:p>
        </p:txBody>
      </p:sp>
      <p:sp>
        <p:nvSpPr>
          <p:cNvPr id="10" name="s5-new-copy">
            <a:extLst xmlns:a="http://schemas.openxmlformats.org/drawingml/2006/main">
              <a:ext uri="{FF2B5EF4-FFF2-40B4-BE49-F238E27FC236}">
                <a16:creationId xmlns:a16="http://schemas.microsoft.com/office/drawing/2014/main" id="{AA68A90E-AA53-4678-942D-79FA94AE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5334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The animation explains cuff timing while the copy protects clinical credibility and directs urgent symptoms away from booking.</a:t>
            </a:r>
          </a:p>
        </p:txBody>
      </p:sp>
      <p:cxnSp>
        <p:nvCxnSpPr>
          <p:cNvPr id="49" name="footer-rule-5"/>
          <p:cNvCxnSpPr/>
          <p:nvPr/>
        </p:nvCxnSpPr>
        <p:spPr>
          <a:xfrm xmlns:a="http://schemas.openxmlformats.org/drawingml/2006/main">
            <a:off x="495300" y="6305550"/>
            <a:ext cx="11201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6CDD6"/>
            </a:solidFill>
            <a:prstDash val="solid"/>
          </a:ln>
        </p:spPr>
      </p:cxnSp>
      <p:sp>
        <p:nvSpPr>
          <p:cNvPr id="12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96191F6C-DF07-41BF-8AA1-7D441729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13" name="footer-no-5">
            <a:extLst xmlns:a="http://schemas.openxmlformats.org/drawingml/2006/main">
              <a:ext uri="{FF2B5EF4-FFF2-40B4-BE49-F238E27FC236}">
                <a16:creationId xmlns:a16="http://schemas.microsoft.com/office/drawing/2014/main" id="{193FD829-EB93-4A24-9028-807CA0AC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4" name="source-5">
            <a:extLst xmlns:a="http://schemas.openxmlformats.org/drawingml/2006/main">
              <a:ext uri="{FF2B5EF4-FFF2-40B4-BE49-F238E27FC236}">
                <a16:creationId xmlns:a16="http://schemas.microsoft.com/office/drawing/2014/main" id="{1CE409EC-2A47-45A0-9CBC-9348BC18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41985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t>Source: current EECP page + redesigned EECP staging page</a:t>
            </a:r>
          </a:p>
        </p:txBody>
      </p:sp>
    </p:spTree>
    <p:extLst>
      <p:ext uri="{BB962C8B-B14F-4D97-AF65-F5344CB8AC3E}">
        <p14:creationId xmlns:p14="http://schemas.microsoft.com/office/powerpoint/2010/main" val="287589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9-coral-bar">
            <a:extLst xmlns:a="http://schemas.openxmlformats.org/drawingml/2006/main">
              <a:ext uri="{FF2B5EF4-FFF2-40B4-BE49-F238E27FC236}">
                <a16:creationId xmlns:a16="http://schemas.microsoft.com/office/drawing/2014/main" id="{C617ABB0-ECD5-4A5B-963D-12B9FDB9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95250" cy="558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F0B62906-8F85-4081-8DE8-4CAD718F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9ED9CF"/>
                </a:solidFill>
                <a:latin typeface="Arial"/>
                <a:ea typeface="Arial"/>
                <a:cs typeface="Arial"/>
              </a:defRPr>
            </a:pPr>
            <a:r>
              <a:t>THE DECISION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02FBFAC3-FB01-4019-A4FC-DFB5634B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525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Approve the redesigned website—and launch with confidence.</a:t>
            </a:r>
          </a:p>
        </p:txBody>
      </p:sp>
      <p:sp>
        <p:nvSpPr>
          <p:cNvPr id="4" name="s9-subtitle">
            <a:extLst xmlns:a="http://schemas.openxmlformats.org/drawingml/2006/main">
              <a:ext uri="{FF2B5EF4-FFF2-40B4-BE49-F238E27FC236}">
                <a16:creationId xmlns:a16="http://schemas.microsoft.com/office/drawing/2014/main" id="{FCBC10C5-CBDE-4231-93EE-E99D3C12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8096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CDECE6"/>
                </a:solidFill>
                <a:latin typeface="Arial"/>
                <a:ea typeface="Arial"/>
                <a:cs typeface="Arial"/>
              </a:defRPr>
            </a:pPr>
            <a:r>
              <a:t>Launch after three checks: verified facts, protected search equity, and measurable enquiries.</a:t>
            </a:r>
          </a:p>
        </p:txBody>
      </p:sp>
      <p:sp>
        <p:nvSpPr>
          <p:cNvPr id="5" name="s9-actions">
            <a:extLst xmlns:a="http://schemas.openxmlformats.org/drawingml/2006/main">
              <a:ext uri="{FF2B5EF4-FFF2-40B4-BE49-F238E27FC236}">
                <a16:creationId xmlns:a16="http://schemas.microsoft.com/office/drawing/2014/main" id="{1B6005E3-169E-4D1A-BABF-8A3944A4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00550"/>
            <a:ext cx="2000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  Verify
2  Redirect
3  Measure</a:t>
            </a:r>
          </a:p>
        </p:txBody>
      </p:sp>
      <p:cxnSp>
        <p:nvCxnSpPr>
          <p:cNvPr id="26" name="s9-footer-rule"/>
          <p:cNvCxnSpPr/>
          <p:nvPr/>
        </p:nvCxnSpPr>
        <p:spPr>
          <a:xfrm xmlns:a="http://schemas.openxmlformats.org/drawingml/2006/main">
            <a:off x="876300" y="6000750"/>
            <a:ext cx="105346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B355A"/>
            </a:solidFill>
            <a:prstDash val="solid"/>
          </a:ln>
        </p:spPr>
      </p:cxnSp>
      <p:sp>
        <p:nvSpPr>
          <p:cNvPr id="7" name="s9-footer">
            <a:extLst xmlns:a="http://schemas.openxmlformats.org/drawingml/2006/main">
              <a:ext uri="{FF2B5EF4-FFF2-40B4-BE49-F238E27FC236}">
                <a16:creationId xmlns:a16="http://schemas.microsoft.com/office/drawing/2014/main" id="{8B8993B9-963C-442E-B04E-741CACF2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4191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9ED9CF"/>
                </a:solidFill>
                <a:latin typeface="Arial"/>
                <a:ea typeface="Arial"/>
                <a:cs typeface="Arial"/>
              </a:defRPr>
            </a:pPr>
            <a:r>
              <a:t>RISE MEDICAL HUB · WEBSITE DECISION</a:t>
            </a:r>
          </a:p>
        </p:txBody>
      </p:sp>
      <p:sp>
        <p:nvSpPr>
          <p:cNvPr id="8" name="s9-no">
            <a:extLst xmlns:a="http://schemas.openxmlformats.org/drawingml/2006/main">
              <a:ext uri="{FF2B5EF4-FFF2-40B4-BE49-F238E27FC236}">
                <a16:creationId xmlns:a16="http://schemas.microsoft.com/office/drawing/2014/main" id="{716CCDEF-D5D5-4C82-9FFB-47970B3F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53150"/>
            <a:ext cx="457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9ED9C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0537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2026-07-18T04:54:25.6160000Z</dcterms:created>
  <dcterms:modified xsi:type="dcterms:W3CDTF">2026-07-18T04:54:25.6160000Z</dcterms:modified>
</coreProperties>
</file>